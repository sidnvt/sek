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702" r:id="rId2"/>
    <p:sldMasterId id="2147483686" r:id="rId3"/>
  </p:sldMasterIdLst>
  <p:notesMasterIdLst>
    <p:notesMasterId r:id="rId17"/>
  </p:notesMasterIdLst>
  <p:handoutMasterIdLst>
    <p:handoutMasterId r:id="rId18"/>
  </p:handoutMasterIdLst>
  <p:sldIdLst>
    <p:sldId id="277" r:id="rId4"/>
    <p:sldId id="410" r:id="rId5"/>
    <p:sldId id="411" r:id="rId6"/>
    <p:sldId id="404" r:id="rId7"/>
    <p:sldId id="413" r:id="rId8"/>
    <p:sldId id="414" r:id="rId9"/>
    <p:sldId id="403" r:id="rId10"/>
    <p:sldId id="401" r:id="rId11"/>
    <p:sldId id="266" r:id="rId12"/>
    <p:sldId id="267" r:id="rId13"/>
    <p:sldId id="425" r:id="rId14"/>
    <p:sldId id="432" r:id="rId15"/>
    <p:sldId id="43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074" autoAdjust="0"/>
    <p:restoredTop sz="94660" autoAdjust="0"/>
  </p:normalViewPr>
  <p:slideViewPr>
    <p:cSldViewPr snapToGrid="0">
      <p:cViewPr varScale="1">
        <p:scale>
          <a:sx n="88" d="100"/>
          <a:sy n="88" d="100"/>
        </p:scale>
        <p:origin x="465" y="57"/>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67" d="100"/>
          <a:sy n="67" d="100"/>
        </p:scale>
        <p:origin x="-3168" y="-77"/>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handoutMaster" Target="handoutMasters/handoutMaster1.xml"/><Relationship Id="rId3" Type="http://schemas.openxmlformats.org/officeDocument/2006/relationships/slideMaster" Target="slideMasters/slideMaster3.xml"/><Relationship Id="rId21"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10" Type="http://schemas.openxmlformats.org/officeDocument/2006/relationships/slide" Target="slides/slide7.xml"/><Relationship Id="rId19"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11/18/2025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11/18/2025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5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0" name="Google Shape;170;p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5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2" name="Google Shape;182;p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5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2" name="Google Shape;182;p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119019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a:extLst>
            <a:ext uri="{FF2B5EF4-FFF2-40B4-BE49-F238E27FC236}">
              <a16:creationId xmlns:a16="http://schemas.microsoft.com/office/drawing/2014/main" id="{937B4759-1827-D4C7-EEE6-72893EA211DB}"/>
            </a:ext>
          </a:extLst>
        </p:cNvPr>
        <p:cNvGrpSpPr/>
        <p:nvPr/>
      </p:nvGrpSpPr>
      <p:grpSpPr>
        <a:xfrm>
          <a:off x="0" y="0"/>
          <a:ext cx="0" cy="0"/>
          <a:chOff x="0" y="0"/>
          <a:chExt cx="0" cy="0"/>
        </a:xfrm>
      </p:grpSpPr>
      <p:sp>
        <p:nvSpPr>
          <p:cNvPr id="169" name="Google Shape;169;p57:notes">
            <a:extLst>
              <a:ext uri="{FF2B5EF4-FFF2-40B4-BE49-F238E27FC236}">
                <a16:creationId xmlns:a16="http://schemas.microsoft.com/office/drawing/2014/main" id="{9160E44D-DDC1-3BC8-F72A-5C1B1C608B5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0" name="Google Shape;170;p57:notes">
            <a:extLst>
              <a:ext uri="{FF2B5EF4-FFF2-40B4-BE49-F238E27FC236}">
                <a16:creationId xmlns:a16="http://schemas.microsoft.com/office/drawing/2014/main" id="{9C1B7E6F-217F-1FD9-B2C6-89ADED7171C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356070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image" Target="../media/image1.png"/><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theme" Target="../theme/theme3.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5"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hf hdr="0" ftr="0" dt="0"/>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6053794"/>
            <a:ext cx="12196420" cy="4391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45" name="Rectangle 44"/>
          <p:cNvSpPr/>
          <p:nvPr/>
        </p:nvSpPr>
        <p:spPr>
          <a:xfrm>
            <a:off x="2687871" y="1171516"/>
            <a:ext cx="7014929" cy="2808416"/>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sz="2300" i="1" dirty="0">
                <a:solidFill>
                  <a:srgbClr val="000000"/>
                </a:solidFill>
              </a:rPr>
              <a:t>Submitted in the partial fulfillment for the award of the degree of</a:t>
            </a:r>
          </a:p>
          <a:p>
            <a:pPr algn="ctr">
              <a:lnSpc>
                <a:spcPct val="150000"/>
              </a:lnSpc>
            </a:pPr>
            <a:r>
              <a:rPr lang="en-US" sz="2300" b="1" dirty="0">
                <a:solidFill>
                  <a:srgbClr val="000000"/>
                </a:solidFill>
              </a:rPr>
              <a:t>BACHELOR OF ENGINEERING </a:t>
            </a:r>
            <a:endParaRPr lang="en-US" sz="2300" dirty="0">
              <a:solidFill>
                <a:srgbClr val="000000"/>
              </a:solidFill>
            </a:endParaRPr>
          </a:p>
          <a:p>
            <a:pPr algn="ctr">
              <a:lnSpc>
                <a:spcPct val="150000"/>
              </a:lnSpc>
            </a:pPr>
            <a:r>
              <a:rPr lang="en-US" sz="2300" i="1" dirty="0">
                <a:solidFill>
                  <a:srgbClr val="000000"/>
                </a:solidFill>
              </a:rPr>
              <a:t> IN</a:t>
            </a:r>
          </a:p>
          <a:p>
            <a:pPr algn="ctr">
              <a:lnSpc>
                <a:spcPct val="150000"/>
              </a:lnSpc>
            </a:pPr>
            <a:r>
              <a:rPr lang="en-US" sz="2300" b="1" dirty="0">
                <a:solidFill>
                  <a:srgbClr val="000000"/>
                </a:solidFill>
              </a:rPr>
              <a:t>COMPUTER SCIENCE ENGINEERING</a:t>
            </a:r>
          </a:p>
          <a:p>
            <a:pPr algn="ctr">
              <a:lnSpc>
                <a:spcPct val="150000"/>
              </a:lnSpc>
            </a:pPr>
            <a:r>
              <a:rPr lang="en-US" sz="2300" b="1" dirty="0">
                <a:solidFill>
                  <a:srgbClr val="000000"/>
                </a:solidFill>
              </a:rPr>
              <a:t>(Hons.) INFORMATION SECURITY</a:t>
            </a:r>
            <a:endParaRPr lang="en-US" sz="2300" dirty="0">
              <a:solidFill>
                <a:srgbClr val="000000"/>
              </a:solidFill>
            </a:endParaRPr>
          </a:p>
        </p:txBody>
      </p:sp>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p:cNvSpPr txBox="1">
            <a:spLocks noChangeArrowheads="1"/>
          </p:cNvSpPr>
          <p:nvPr/>
        </p:nvSpPr>
        <p:spPr bwMode="auto">
          <a:xfrm>
            <a:off x="443345" y="6014156"/>
            <a:ext cx="5882609" cy="430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400" b="1" dirty="0">
                <a:solidFill>
                  <a:srgbClr val="FF0000"/>
                </a:solidFill>
                <a:latin typeface="Times New Roman" pitchFamily="18" charset="0"/>
                <a:cs typeface="Times New Roman" pitchFamily="18" charset="0"/>
              </a:rPr>
              <a:t>Department of AIT-CSE</a:t>
            </a:r>
            <a:endParaRPr lang="en-US" sz="1600" dirty="0">
              <a:solidFill>
                <a:srgbClr val="FF0000"/>
              </a:solidFill>
              <a:latin typeface="Times New Roman" pitchFamily="18" charset="0"/>
              <a:cs typeface="Times New Roman" pitchFamily="18" charset="0"/>
            </a:endParaRPr>
          </a:p>
        </p:txBody>
      </p:sp>
      <p:sp>
        <p:nvSpPr>
          <p:cNvPr id="26" name="TextBox 25"/>
          <p:cNvSpPr txBox="1">
            <a:spLocks noChangeArrowheads="1"/>
          </p:cNvSpPr>
          <p:nvPr/>
        </p:nvSpPr>
        <p:spPr bwMode="auto">
          <a:xfrm>
            <a:off x="681445" y="443734"/>
            <a:ext cx="11412583" cy="5232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2800" b="1" dirty="0">
                <a:latin typeface="Arial Black" pitchFamily="34" charset="0"/>
              </a:rPr>
              <a:t>Social Engineering - A Chained, Potent attack vector</a:t>
            </a:r>
            <a:endParaRPr lang="en-US" sz="2800" dirty="0">
              <a:latin typeface="Raleway ExtraBold" pitchFamily="34" charset="-52"/>
            </a:endParaRPr>
          </a:p>
        </p:txBody>
      </p:sp>
      <p:sp>
        <p:nvSpPr>
          <p:cNvPr id="15" name="Slide Number Placeholder 14"/>
          <p:cNvSpPr>
            <a:spLocks noGrp="1"/>
          </p:cNvSpPr>
          <p:nvPr>
            <p:ph type="sldNum" sz="quarter" idx="12"/>
          </p:nvPr>
        </p:nvSpPr>
        <p:spPr/>
        <p:txBody>
          <a:bodyPr/>
          <a:lstStyle/>
          <a:p>
            <a:fld id="{BDCDBBEF-AA6C-4BA6-85B2-A17D7F280E38}" type="slidenum">
              <a:rPr lang="en-US" smtClean="0"/>
              <a:pPr/>
              <a:t>1</a:t>
            </a:fld>
            <a:endParaRPr lang="en-US"/>
          </a:p>
        </p:txBody>
      </p:sp>
      <p:sp>
        <p:nvSpPr>
          <p:cNvPr id="5" name="TextBox 4"/>
          <p:cNvSpPr txBox="1"/>
          <p:nvPr/>
        </p:nvSpPr>
        <p:spPr>
          <a:xfrm>
            <a:off x="876380" y="4203655"/>
            <a:ext cx="3782711" cy="1631216"/>
          </a:xfrm>
          <a:prstGeom prst="rect">
            <a:avLst/>
          </a:prstGeom>
          <a:noFill/>
        </p:spPr>
        <p:txBody>
          <a:bodyPr wrap="square" rtlCol="0">
            <a:spAutoFit/>
          </a:bodyPr>
          <a:lstStyle/>
          <a:p>
            <a:r>
              <a:rPr lang="en-US" sz="2000" b="1" dirty="0"/>
              <a:t>Submitted by: </a:t>
            </a:r>
          </a:p>
          <a:p>
            <a:r>
              <a:rPr lang="en-US" sz="2000" dirty="0"/>
              <a:t>Siddhant Tiwari – 22BIS70122</a:t>
            </a:r>
          </a:p>
          <a:p>
            <a:r>
              <a:rPr lang="en-US" sz="2000" dirty="0"/>
              <a:t>Atharva Barga – 23BIS80001</a:t>
            </a:r>
          </a:p>
          <a:p>
            <a:r>
              <a:rPr lang="en-US" sz="2000" dirty="0"/>
              <a:t>Neha Varma – 23BIS80002</a:t>
            </a:r>
          </a:p>
          <a:p>
            <a:endParaRPr lang="en-US" sz="2000" dirty="0"/>
          </a:p>
        </p:txBody>
      </p:sp>
      <p:sp>
        <p:nvSpPr>
          <p:cNvPr id="6" name="TextBox 5"/>
          <p:cNvSpPr txBox="1"/>
          <p:nvPr/>
        </p:nvSpPr>
        <p:spPr>
          <a:xfrm>
            <a:off x="7609798" y="4202296"/>
            <a:ext cx="3342350" cy="1015663"/>
          </a:xfrm>
          <a:prstGeom prst="rect">
            <a:avLst/>
          </a:prstGeom>
          <a:noFill/>
        </p:spPr>
        <p:txBody>
          <a:bodyPr wrap="square" rtlCol="0">
            <a:spAutoFit/>
          </a:bodyPr>
          <a:lstStyle/>
          <a:p>
            <a:r>
              <a:rPr lang="en-US" sz="2000" b="1" dirty="0"/>
              <a:t>Under the Supervision of: </a:t>
            </a:r>
            <a:endParaRPr lang="en-US" sz="2000" dirty="0"/>
          </a:p>
          <a:p>
            <a:r>
              <a:rPr lang="en-US" sz="2000" dirty="0"/>
              <a:t>Mr. Yogiraj </a:t>
            </a:r>
            <a:r>
              <a:rPr lang="en-US" sz="2000" dirty="0" err="1"/>
              <a:t>Bhale</a:t>
            </a:r>
            <a:endParaRPr lang="en-US" sz="2000" dirty="0"/>
          </a:p>
          <a:p>
            <a:endParaRPr lang="en-US" sz="2000" dirty="0"/>
          </a:p>
        </p:txBody>
      </p:sp>
    </p:spTree>
    <p:extLst>
      <p:ext uri="{BB962C8B-B14F-4D97-AF65-F5344CB8AC3E}">
        <p14:creationId xmlns:p14="http://schemas.microsoft.com/office/powerpoint/2010/main" val="456502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976206"/>
          </a:xfrm>
        </p:spPr>
        <p:txBody>
          <a:bodyPr/>
          <a:lstStyle/>
          <a:p>
            <a:r>
              <a:rPr lang="en-US" b="1" dirty="0">
                <a:latin typeface="Times New Roman"/>
                <a:cs typeface="Times New Roman"/>
              </a:rPr>
              <a:t>Outline</a:t>
            </a:r>
          </a:p>
        </p:txBody>
      </p:sp>
      <p:sp>
        <p:nvSpPr>
          <p:cNvPr id="3" name="Content Placeholder 2"/>
          <p:cNvSpPr>
            <a:spLocks noGrp="1"/>
          </p:cNvSpPr>
          <p:nvPr>
            <p:ph idx="1"/>
          </p:nvPr>
        </p:nvSpPr>
        <p:spPr>
          <a:xfrm>
            <a:off x="838200" y="1588220"/>
            <a:ext cx="10515600" cy="4952253"/>
          </a:xfrm>
        </p:spPr>
        <p:txBody>
          <a:bodyPr>
            <a:normAutofit/>
          </a:bodyPr>
          <a:lstStyle/>
          <a:p>
            <a:r>
              <a:rPr lang="en-US" dirty="0">
                <a:latin typeface="Times New Roman"/>
                <a:cs typeface="Times New Roman"/>
              </a:rPr>
              <a:t>Introduction to Project</a:t>
            </a:r>
          </a:p>
          <a:p>
            <a:r>
              <a:rPr lang="en-US" dirty="0">
                <a:latin typeface="Times New Roman"/>
                <a:cs typeface="Times New Roman"/>
              </a:rPr>
              <a:t>Problem Formulation</a:t>
            </a:r>
          </a:p>
          <a:p>
            <a:r>
              <a:rPr lang="en-US" dirty="0">
                <a:latin typeface="Times New Roman"/>
                <a:cs typeface="Times New Roman"/>
              </a:rPr>
              <a:t>Objectives of the work </a:t>
            </a:r>
          </a:p>
          <a:p>
            <a:r>
              <a:rPr lang="en-US" dirty="0">
                <a:latin typeface="Times New Roman"/>
                <a:cs typeface="Times New Roman"/>
              </a:rPr>
              <a:t>Methodology used</a:t>
            </a:r>
          </a:p>
          <a:p>
            <a:r>
              <a:rPr lang="en-US" spc="-10" dirty="0">
                <a:latin typeface="Times New Roman"/>
                <a:cs typeface="Times New Roman"/>
              </a:rPr>
              <a:t>Results and Outputs</a:t>
            </a:r>
          </a:p>
          <a:p>
            <a:r>
              <a:rPr lang="en-US" dirty="0">
                <a:latin typeface="Times New Roman"/>
                <a:cs typeface="Times New Roman"/>
              </a:rPr>
              <a:t>Future Scope</a:t>
            </a:r>
          </a:p>
          <a:p>
            <a:r>
              <a:rPr lang="en-US" dirty="0">
                <a:latin typeface="Times New Roman"/>
                <a:cs typeface="Times New Roman"/>
              </a:rPr>
              <a:t>References</a:t>
            </a: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a:t>
            </a:fld>
            <a:endParaRPr lang="en-US"/>
          </a:p>
        </p:txBody>
      </p:sp>
    </p:spTree>
    <p:extLst>
      <p:ext uri="{BB962C8B-B14F-4D97-AF65-F5344CB8AC3E}">
        <p14:creationId xmlns:p14="http://schemas.microsoft.com/office/powerpoint/2010/main" val="11089399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55C239-C69C-9F04-D923-644C961DBB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DB0C5B-F872-B63A-470A-0F0A961C9302}"/>
              </a:ext>
            </a:extLst>
          </p:cNvPr>
          <p:cNvSpPr>
            <a:spLocks noGrp="1"/>
          </p:cNvSpPr>
          <p:nvPr>
            <p:ph type="title"/>
          </p:nvPr>
        </p:nvSpPr>
        <p:spPr>
          <a:xfrm>
            <a:off x="828040" y="132080"/>
            <a:ext cx="5857240" cy="995680"/>
          </a:xfrm>
        </p:spPr>
        <p:txBody>
          <a:bodyPr>
            <a:noAutofit/>
          </a:bodyPr>
          <a:lstStyle/>
          <a:p>
            <a:pPr marL="12700" rtl="0">
              <a:spcBef>
                <a:spcPts val="0"/>
              </a:spcBef>
              <a:spcAft>
                <a:spcPts val="0"/>
              </a:spcAft>
            </a:pPr>
            <a:r>
              <a:rPr lang="en-IN" b="1" i="0" u="none" strike="noStrike" dirty="0">
                <a:solidFill>
                  <a:srgbClr val="181A0E"/>
                </a:solidFill>
                <a:effectLst/>
                <a:latin typeface="Times New Roman" panose="02020603050405020304" pitchFamily="18" charset="0"/>
                <a:cs typeface="Times New Roman" panose="02020603050405020304" pitchFamily="18" charset="0"/>
              </a:rPr>
              <a:t>Introduction To Project</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DAB10A2-DCA7-ACE7-2402-75B57491E8CC}"/>
              </a:ext>
            </a:extLst>
          </p:cNvPr>
          <p:cNvSpPr>
            <a:spLocks noGrp="1"/>
          </p:cNvSpPr>
          <p:nvPr>
            <p:ph idx="1"/>
          </p:nvPr>
        </p:nvSpPr>
        <p:spPr>
          <a:xfrm>
            <a:off x="828040" y="1209040"/>
            <a:ext cx="10342880" cy="5228590"/>
          </a:xfrm>
        </p:spPr>
        <p:txBody>
          <a:bodyPr>
            <a:normAutofit fontScale="92500" lnSpcReduction="10000"/>
          </a:bodyPr>
          <a:lstStyle/>
          <a:p>
            <a:r>
              <a:rPr lang="en-US" dirty="0"/>
              <a:t>The field of social engineering has emerged as a critical domain within cybersecurity, driven by compelling statistics and well-documented evidence of the increasing sophistication of psychological cyber threats. Reports from global cybersecurity agencies, research institutions, and technology organizations consistently highlight the alarming rise in business email compromise, deepfake fraud, and manipulation incidents. The escalation of cyberattacks targeting human cognitive biases underscores the urgency for advanced defense methodologies that move beyond traditional, technical-centric security perimeters.</a:t>
            </a:r>
          </a:p>
          <a:p>
            <a:pPr marL="0" indent="0" algn="ctr">
              <a:buNone/>
            </a:pPr>
            <a:r>
              <a:rPr lang="en-IN" b="1" dirty="0"/>
              <a:t>Contemporary issues</a:t>
            </a:r>
          </a:p>
          <a:p>
            <a:r>
              <a:rPr lang="en-US" dirty="0"/>
              <a:t>Exploitation of Human Trust and Cognitive Biases</a:t>
            </a:r>
          </a:p>
          <a:p>
            <a:r>
              <a:rPr lang="en-US" dirty="0"/>
              <a:t>Over-Reliance on Automated Email Filtering Mechanisms</a:t>
            </a:r>
          </a:p>
          <a:p>
            <a:r>
              <a:rPr lang="en-US" dirty="0"/>
              <a:t>Inadequate Training Against AI-Driven Impersonation</a:t>
            </a:r>
          </a:p>
          <a:p>
            <a:r>
              <a:rPr lang="en-US" dirty="0"/>
              <a:t>Vulnerabilities from Open Source Intelligence (OSINT) Exposure</a:t>
            </a:r>
          </a:p>
          <a:p>
            <a:pPr>
              <a:buFont typeface="Wingdings" panose="05000000000000000000" pitchFamily="2" charset="2"/>
              <a:buChar char="§"/>
            </a:pPr>
            <a:endParaRPr lang="en-US" dirty="0"/>
          </a:p>
        </p:txBody>
      </p:sp>
      <p:sp>
        <p:nvSpPr>
          <p:cNvPr id="4" name="Slide Number Placeholder 3">
            <a:extLst>
              <a:ext uri="{FF2B5EF4-FFF2-40B4-BE49-F238E27FC236}">
                <a16:creationId xmlns:a16="http://schemas.microsoft.com/office/drawing/2014/main" id="{B99F8103-399D-0D55-64D6-FF81AF1EE7C4}"/>
              </a:ext>
            </a:extLst>
          </p:cNvPr>
          <p:cNvSpPr>
            <a:spLocks noGrp="1"/>
          </p:cNvSpPr>
          <p:nvPr>
            <p:ph type="sldNum" sz="quarter" idx="12"/>
          </p:nvPr>
        </p:nvSpPr>
        <p:spPr/>
        <p:txBody>
          <a:bodyPr/>
          <a:lstStyle/>
          <a:p>
            <a:fld id="{BDCDBBEF-AA6C-4BA6-85B2-A17D7F280E38}" type="slidenum">
              <a:rPr lang="en-US" smtClean="0"/>
              <a:pPr/>
              <a:t>3</a:t>
            </a:fld>
            <a:endParaRPr lang="en-US"/>
          </a:p>
        </p:txBody>
      </p:sp>
    </p:spTree>
    <p:extLst>
      <p:ext uri="{BB962C8B-B14F-4D97-AF65-F5344CB8AC3E}">
        <p14:creationId xmlns:p14="http://schemas.microsoft.com/office/powerpoint/2010/main" val="13276645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440B78-8B39-F474-F705-E2597F56AE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D18CE9-7966-3C25-D75A-5ED8AADDAF5C}"/>
              </a:ext>
            </a:extLst>
          </p:cNvPr>
          <p:cNvSpPr>
            <a:spLocks noGrp="1"/>
          </p:cNvSpPr>
          <p:nvPr>
            <p:ph type="title"/>
          </p:nvPr>
        </p:nvSpPr>
        <p:spPr>
          <a:xfrm>
            <a:off x="828040" y="132080"/>
            <a:ext cx="5857240" cy="995680"/>
          </a:xfrm>
        </p:spPr>
        <p:txBody>
          <a:bodyPr>
            <a:noAutofit/>
          </a:bodyPr>
          <a:lstStyle/>
          <a:p>
            <a:pPr marL="12700" rtl="0">
              <a:spcBef>
                <a:spcPts val="0"/>
              </a:spcBef>
              <a:spcAft>
                <a:spcPts val="0"/>
              </a:spcAft>
            </a:pPr>
            <a:r>
              <a:rPr lang="en-IN" b="1" i="0" u="none" strike="noStrike" dirty="0">
                <a:solidFill>
                  <a:srgbClr val="181A0E"/>
                </a:solidFill>
                <a:effectLst/>
                <a:latin typeface="Times New Roman" panose="02020603050405020304" pitchFamily="18" charset="0"/>
                <a:cs typeface="Times New Roman" panose="02020603050405020304" pitchFamily="18" charset="0"/>
              </a:rPr>
              <a:t>Introduction To Project</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AD6DA05-25E7-573B-1751-2C1DE3382CF4}"/>
              </a:ext>
            </a:extLst>
          </p:cNvPr>
          <p:cNvSpPr>
            <a:spLocks noGrp="1"/>
          </p:cNvSpPr>
          <p:nvPr>
            <p:ph idx="1"/>
          </p:nvPr>
        </p:nvSpPr>
        <p:spPr>
          <a:xfrm>
            <a:off x="828040" y="1127760"/>
            <a:ext cx="10342880" cy="5228590"/>
          </a:xfrm>
        </p:spPr>
        <p:txBody>
          <a:bodyPr/>
          <a:lstStyle/>
          <a:p>
            <a:r>
              <a:rPr lang="en-US" dirty="0"/>
              <a:t>Chained social engineering vectors are increasingly targeting : Finance, Healthcare, Government, Education and E-Commerce Sectors. Common challenges involve traditional defense silos, such as isolated email gateways and standard employee verification protocols, are prone to vulnerabilities where attackers can bypass security measures</a:t>
            </a:r>
          </a:p>
          <a:p>
            <a:r>
              <a:rPr lang="en-US" b="1" dirty="0"/>
              <a:t>Contemporary issues include : </a:t>
            </a:r>
            <a:r>
              <a:rPr lang="en-US" dirty="0"/>
              <a:t>Cross-platform OSINT aggregation, Multi-stage pretexting chains and Deepfake-enabled impersonation</a:t>
            </a:r>
          </a:p>
          <a:p>
            <a:endParaRPr lang="en-IN" dirty="0"/>
          </a:p>
        </p:txBody>
      </p:sp>
      <p:sp>
        <p:nvSpPr>
          <p:cNvPr id="4" name="Slide Number Placeholder 3">
            <a:extLst>
              <a:ext uri="{FF2B5EF4-FFF2-40B4-BE49-F238E27FC236}">
                <a16:creationId xmlns:a16="http://schemas.microsoft.com/office/drawing/2014/main" id="{F0581E80-D412-514B-321B-D5015D5E922B}"/>
              </a:ext>
            </a:extLst>
          </p:cNvPr>
          <p:cNvSpPr>
            <a:spLocks noGrp="1"/>
          </p:cNvSpPr>
          <p:nvPr>
            <p:ph type="sldNum" sz="quarter" idx="12"/>
          </p:nvPr>
        </p:nvSpPr>
        <p:spPr/>
        <p:txBody>
          <a:bodyPr/>
          <a:lstStyle/>
          <a:p>
            <a:fld id="{BDCDBBEF-AA6C-4BA6-85B2-A17D7F280E38}" type="slidenum">
              <a:rPr lang="en-US" smtClean="0"/>
              <a:pPr/>
              <a:t>4</a:t>
            </a:fld>
            <a:endParaRPr lang="en-US"/>
          </a:p>
        </p:txBody>
      </p:sp>
      <p:pic>
        <p:nvPicPr>
          <p:cNvPr id="9" name="Picture 8">
            <a:extLst>
              <a:ext uri="{FF2B5EF4-FFF2-40B4-BE49-F238E27FC236}">
                <a16:creationId xmlns:a16="http://schemas.microsoft.com/office/drawing/2014/main" id="{8287246F-9E93-1241-5593-93813F7E1956}"/>
              </a:ext>
            </a:extLst>
          </p:cNvPr>
          <p:cNvPicPr>
            <a:picLocks noChangeAspect="1"/>
          </p:cNvPicPr>
          <p:nvPr/>
        </p:nvPicPr>
        <p:blipFill>
          <a:blip r:embed="rId2"/>
          <a:stretch>
            <a:fillRect/>
          </a:stretch>
        </p:blipFill>
        <p:spPr>
          <a:xfrm>
            <a:off x="3864429" y="4621663"/>
            <a:ext cx="4261757" cy="1974374"/>
          </a:xfrm>
          <a:prstGeom prst="rect">
            <a:avLst/>
          </a:prstGeom>
          <a:ln>
            <a:solidFill>
              <a:schemeClr val="tx1"/>
            </a:solidFill>
          </a:ln>
        </p:spPr>
      </p:pic>
    </p:spTree>
    <p:extLst>
      <p:ext uri="{BB962C8B-B14F-4D97-AF65-F5344CB8AC3E}">
        <p14:creationId xmlns:p14="http://schemas.microsoft.com/office/powerpoint/2010/main" val="20635906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955243-B396-B0CC-5F7C-E816479D33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7414AF-1E68-4761-B69A-E4201D3FA5EA}"/>
              </a:ext>
            </a:extLst>
          </p:cNvPr>
          <p:cNvSpPr>
            <a:spLocks noGrp="1"/>
          </p:cNvSpPr>
          <p:nvPr>
            <p:ph type="title"/>
          </p:nvPr>
        </p:nvSpPr>
        <p:spPr>
          <a:xfrm>
            <a:off x="838200" y="0"/>
            <a:ext cx="10515600" cy="1325563"/>
          </a:xfrm>
        </p:spPr>
        <p:txBody>
          <a:bodyPr/>
          <a:lstStyle/>
          <a:p>
            <a:r>
              <a:rPr lang="en-US" b="1" dirty="0">
                <a:latin typeface="Times New Roman" panose="02020603050405020304" pitchFamily="18" charset="0"/>
                <a:cs typeface="Times New Roman" panose="02020603050405020304" pitchFamily="18" charset="0"/>
              </a:rPr>
              <a:t>Problem Formulation</a:t>
            </a:r>
            <a:endParaRPr lang="en-US" dirty="0"/>
          </a:p>
        </p:txBody>
      </p:sp>
      <p:sp>
        <p:nvSpPr>
          <p:cNvPr id="3" name="Content Placeholder 2">
            <a:extLst>
              <a:ext uri="{FF2B5EF4-FFF2-40B4-BE49-F238E27FC236}">
                <a16:creationId xmlns:a16="http://schemas.microsoft.com/office/drawing/2014/main" id="{D6E62FF9-3240-BD04-34EF-2B57735EC02B}"/>
              </a:ext>
            </a:extLst>
          </p:cNvPr>
          <p:cNvSpPr>
            <a:spLocks noGrp="1"/>
          </p:cNvSpPr>
          <p:nvPr>
            <p:ph idx="1"/>
          </p:nvPr>
        </p:nvSpPr>
        <p:spPr>
          <a:xfrm>
            <a:off x="182880" y="1325563"/>
            <a:ext cx="10378440" cy="5030787"/>
          </a:xfrm>
        </p:spPr>
        <p:txBody>
          <a:bodyPr>
            <a:normAutofit fontScale="92500" lnSpcReduction="10000"/>
          </a:bodyPr>
          <a:lstStyle/>
          <a:p>
            <a:r>
              <a:rPr lang="en-US" dirty="0"/>
              <a:t>Given the rise of hyper-targeted psychological manipulation, the task is to develop a unified defense framework that detects chained attack vectors while maintaining operational workflow. The system should integrate multi-modal analysis methods such as linguistic sentiment tracking, cross-channel metadata correlation, and real-time deepfake detection to prevent psychological compromise</a:t>
            </a:r>
          </a:p>
          <a:p>
            <a:r>
              <a:rPr lang="en-US" b="1" dirty="0"/>
              <a:t>Problem Formulation</a:t>
            </a:r>
            <a:endParaRPr lang="en-US" dirty="0"/>
          </a:p>
          <a:p>
            <a:r>
              <a:rPr lang="en-US" dirty="0"/>
              <a:t>Contextual scalability, signal correlation, and user privacy must be prioritized</a:t>
            </a:r>
          </a:p>
          <a:p>
            <a:r>
              <a:rPr lang="en-US" dirty="0"/>
              <a:t>The problem lies in the fragmented nature of traditional channel defenses and the difficulty in recognizing multi-stage pretexting</a:t>
            </a:r>
          </a:p>
          <a:p>
            <a:r>
              <a:rPr lang="en-US" dirty="0"/>
              <a:t>Continuous adaptation and cognitive resilience improvements are needed in the social engineering defense sphere</a:t>
            </a:r>
          </a:p>
        </p:txBody>
      </p:sp>
      <p:sp>
        <p:nvSpPr>
          <p:cNvPr id="4" name="Slide Number Placeholder 3">
            <a:extLst>
              <a:ext uri="{FF2B5EF4-FFF2-40B4-BE49-F238E27FC236}">
                <a16:creationId xmlns:a16="http://schemas.microsoft.com/office/drawing/2014/main" id="{4FE15863-57C3-FD23-A4C8-FF9CD09E4F48}"/>
              </a:ext>
            </a:extLst>
          </p:cNvPr>
          <p:cNvSpPr>
            <a:spLocks noGrp="1"/>
          </p:cNvSpPr>
          <p:nvPr>
            <p:ph type="sldNum" sz="quarter" idx="12"/>
          </p:nvPr>
        </p:nvSpPr>
        <p:spPr/>
        <p:txBody>
          <a:bodyPr/>
          <a:lstStyle/>
          <a:p>
            <a:fld id="{BDCDBBEF-AA6C-4BA6-85B2-A17D7F280E38}" type="slidenum">
              <a:rPr lang="en-US" smtClean="0"/>
              <a:pPr/>
              <a:t>5</a:t>
            </a:fld>
            <a:endParaRPr lang="en-US"/>
          </a:p>
        </p:txBody>
      </p:sp>
      <p:sp>
        <p:nvSpPr>
          <p:cNvPr id="6" name="TextBox 5">
            <a:extLst>
              <a:ext uri="{FF2B5EF4-FFF2-40B4-BE49-F238E27FC236}">
                <a16:creationId xmlns:a16="http://schemas.microsoft.com/office/drawing/2014/main" id="{0A6C5374-945F-1202-EBA5-B97646D293C8}"/>
              </a:ext>
            </a:extLst>
          </p:cNvPr>
          <p:cNvSpPr txBox="1"/>
          <p:nvPr/>
        </p:nvSpPr>
        <p:spPr>
          <a:xfrm>
            <a:off x="3048000" y="3244334"/>
            <a:ext cx="6096000" cy="369332"/>
          </a:xfrm>
          <a:prstGeom prst="rect">
            <a:avLst/>
          </a:prstGeom>
          <a:noFill/>
        </p:spPr>
        <p:txBody>
          <a:bodyPr wrap="square">
            <a:spAutoFit/>
          </a:bodyPr>
          <a:lstStyle/>
          <a:p>
            <a:r>
              <a:rPr lang="en-IN" b="0" i="0" dirty="0">
                <a:solidFill>
                  <a:srgbClr val="000000"/>
                </a:solidFill>
                <a:effectLst/>
                <a:latin typeface="Times New Roman" panose="02020603050405020304" pitchFamily="18" charset="0"/>
              </a:rPr>
              <a:t> </a:t>
            </a:r>
            <a:endParaRPr lang="en-IN" dirty="0"/>
          </a:p>
        </p:txBody>
      </p:sp>
      <p:sp>
        <p:nvSpPr>
          <p:cNvPr id="7" name="Freeform 9">
            <a:extLst>
              <a:ext uri="{FF2B5EF4-FFF2-40B4-BE49-F238E27FC236}">
                <a16:creationId xmlns:a16="http://schemas.microsoft.com/office/drawing/2014/main" id="{26909E82-9092-10CD-54FB-FC5D5E69832A}"/>
              </a:ext>
            </a:extLst>
          </p:cNvPr>
          <p:cNvSpPr/>
          <p:nvPr/>
        </p:nvSpPr>
        <p:spPr>
          <a:xfrm>
            <a:off x="10156371" y="0"/>
            <a:ext cx="2035629" cy="1807029"/>
          </a:xfrm>
          <a:custGeom>
            <a:avLst/>
            <a:gdLst/>
            <a:ahLst/>
            <a:cxnLst/>
            <a:rect l="l" t="t" r="r" b="b"/>
            <a:pathLst>
              <a:path w="4513947" h="4261489">
                <a:moveTo>
                  <a:pt x="0" y="0"/>
                </a:moveTo>
                <a:lnTo>
                  <a:pt x="4513947" y="0"/>
                </a:lnTo>
                <a:lnTo>
                  <a:pt x="4513947" y="4261489"/>
                </a:lnTo>
                <a:lnTo>
                  <a:pt x="0" y="4261489"/>
                </a:lnTo>
                <a:lnTo>
                  <a:pt x="0" y="0"/>
                </a:lnTo>
                <a:close/>
              </a:path>
            </a:pathLst>
          </a:custGeom>
          <a:blipFill>
            <a:blip r:embed="rId2"/>
            <a:stretch>
              <a:fillRect/>
            </a:stretch>
          </a:blipFill>
          <a:ln>
            <a:solidFill>
              <a:schemeClr val="tx1"/>
            </a:solidFill>
          </a:ln>
        </p:spPr>
      </p:sp>
    </p:spTree>
    <p:extLst>
      <p:ext uri="{BB962C8B-B14F-4D97-AF65-F5344CB8AC3E}">
        <p14:creationId xmlns:p14="http://schemas.microsoft.com/office/powerpoint/2010/main" val="405010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FB898-611E-862C-4CC9-1872216F2B9B}"/>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C729C4A8-AFC2-3023-9C5F-E17088831C66}"/>
              </a:ext>
            </a:extLst>
          </p:cNvPr>
          <p:cNvSpPr>
            <a:spLocks noGrp="1"/>
          </p:cNvSpPr>
          <p:nvPr/>
        </p:nvSpPr>
        <p:spPr>
          <a:xfrm>
            <a:off x="828040" y="162560"/>
            <a:ext cx="10515600" cy="10318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 Times New Roman Medium"/>
              </a:rPr>
              <a:t>Objectives and Goals</a:t>
            </a:r>
          </a:p>
        </p:txBody>
      </p:sp>
      <p:sp>
        <p:nvSpPr>
          <p:cNvPr id="16" name="TextBox 8">
            <a:extLst>
              <a:ext uri="{FF2B5EF4-FFF2-40B4-BE49-F238E27FC236}">
                <a16:creationId xmlns:a16="http://schemas.microsoft.com/office/drawing/2014/main" id="{BC9771F6-9223-20AE-372C-230798DB8A13}"/>
              </a:ext>
            </a:extLst>
          </p:cNvPr>
          <p:cNvSpPr txBox="1"/>
          <p:nvPr/>
        </p:nvSpPr>
        <p:spPr>
          <a:xfrm>
            <a:off x="-63498" y="4043679"/>
            <a:ext cx="3921760" cy="830997"/>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400" dirty="0">
                <a:solidFill>
                  <a:srgbClr val="000000"/>
                </a:solidFill>
                <a:latin typeface="Times New Roman"/>
              </a:rPr>
              <a:t>Simulate the rising risk </a:t>
            </a:r>
            <a:r>
              <a:rPr lang="en-US" sz="2400" dirty="0" err="1">
                <a:solidFill>
                  <a:srgbClr val="000000"/>
                </a:solidFill>
                <a:latin typeface="Times New Roman"/>
              </a:rPr>
              <a:t>fro</a:t>
            </a:r>
            <a:r>
              <a:rPr lang="en-US" sz="2400" dirty="0">
                <a:solidFill>
                  <a:srgbClr val="000000"/>
                </a:solidFill>
                <a:latin typeface="Times New Roman"/>
              </a:rPr>
              <a:t> Social Engineering</a:t>
            </a:r>
          </a:p>
        </p:txBody>
      </p:sp>
      <p:sp>
        <p:nvSpPr>
          <p:cNvPr id="17" name="TextBox 10">
            <a:extLst>
              <a:ext uri="{FF2B5EF4-FFF2-40B4-BE49-F238E27FC236}">
                <a16:creationId xmlns:a16="http://schemas.microsoft.com/office/drawing/2014/main" id="{6B2A64BB-604D-3E47-CD0F-E9647C256816}"/>
              </a:ext>
            </a:extLst>
          </p:cNvPr>
          <p:cNvSpPr txBox="1"/>
          <p:nvPr/>
        </p:nvSpPr>
        <p:spPr>
          <a:xfrm>
            <a:off x="3718197" y="4043678"/>
            <a:ext cx="4735285" cy="461665"/>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400" dirty="0">
                <a:solidFill>
                  <a:srgbClr val="000000"/>
                </a:solidFill>
                <a:latin typeface="Times New Roman"/>
              </a:rPr>
              <a:t>Integrate Modern Mechanisms</a:t>
            </a:r>
          </a:p>
        </p:txBody>
      </p:sp>
      <p:sp>
        <p:nvSpPr>
          <p:cNvPr id="18" name="TextBox 12">
            <a:extLst>
              <a:ext uri="{FF2B5EF4-FFF2-40B4-BE49-F238E27FC236}">
                <a16:creationId xmlns:a16="http://schemas.microsoft.com/office/drawing/2014/main" id="{17D04026-C663-F59F-94B5-2B51D61EFF7D}"/>
              </a:ext>
            </a:extLst>
          </p:cNvPr>
          <p:cNvSpPr txBox="1"/>
          <p:nvPr/>
        </p:nvSpPr>
        <p:spPr>
          <a:xfrm>
            <a:off x="8346446" y="4043680"/>
            <a:ext cx="3073399" cy="830997"/>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400" dirty="0">
                <a:solidFill>
                  <a:srgbClr val="000000"/>
                </a:solidFill>
                <a:latin typeface="Times New Roman"/>
              </a:rPr>
              <a:t>Use undetectable vectors</a:t>
            </a:r>
          </a:p>
        </p:txBody>
      </p:sp>
      <p:sp>
        <p:nvSpPr>
          <p:cNvPr id="25" name="Freeform 4">
            <a:extLst>
              <a:ext uri="{FF2B5EF4-FFF2-40B4-BE49-F238E27FC236}">
                <a16:creationId xmlns:a16="http://schemas.microsoft.com/office/drawing/2014/main" id="{CCD846E8-E8D5-05EF-E8CC-78FE1C3AF239}"/>
              </a:ext>
            </a:extLst>
          </p:cNvPr>
          <p:cNvSpPr/>
          <p:nvPr/>
        </p:nvSpPr>
        <p:spPr>
          <a:xfrm>
            <a:off x="330201" y="1828800"/>
            <a:ext cx="3073399" cy="2214880"/>
          </a:xfrm>
          <a:custGeom>
            <a:avLst/>
            <a:gdLst/>
            <a:ahLst/>
            <a:cxnLst/>
            <a:rect l="l" t="t" r="r" b="b"/>
            <a:pathLst>
              <a:path w="5293087" h="3189426">
                <a:moveTo>
                  <a:pt x="0" y="0"/>
                </a:moveTo>
                <a:lnTo>
                  <a:pt x="5293087" y="0"/>
                </a:lnTo>
                <a:lnTo>
                  <a:pt x="5293087" y="3189426"/>
                </a:lnTo>
                <a:lnTo>
                  <a:pt x="0" y="3189426"/>
                </a:lnTo>
                <a:lnTo>
                  <a:pt x="0" y="0"/>
                </a:lnTo>
                <a:close/>
              </a:path>
            </a:pathLst>
          </a:custGeom>
          <a:blipFill>
            <a:blip r:embed="rId2"/>
            <a:stretch>
              <a:fillRect l="-10456" r="-8344"/>
            </a:stretch>
          </a:blipFill>
          <a:ln w="12700">
            <a:solidFill>
              <a:schemeClr val="tx1"/>
            </a:solidFill>
          </a:ln>
        </p:spPr>
      </p:sp>
      <p:sp>
        <p:nvSpPr>
          <p:cNvPr id="26" name="Freeform 5">
            <a:extLst>
              <a:ext uri="{FF2B5EF4-FFF2-40B4-BE49-F238E27FC236}">
                <a16:creationId xmlns:a16="http://schemas.microsoft.com/office/drawing/2014/main" id="{4DC6F6BD-9AD5-B0C4-CD2D-73356C330C93}"/>
              </a:ext>
            </a:extLst>
          </p:cNvPr>
          <p:cNvSpPr/>
          <p:nvPr/>
        </p:nvSpPr>
        <p:spPr>
          <a:xfrm>
            <a:off x="4505782" y="1772920"/>
            <a:ext cx="3073399" cy="2326640"/>
          </a:xfrm>
          <a:custGeom>
            <a:avLst/>
            <a:gdLst/>
            <a:ahLst/>
            <a:cxnLst/>
            <a:rect l="l" t="t" r="r" b="b"/>
            <a:pathLst>
              <a:path w="4263752" h="3189426">
                <a:moveTo>
                  <a:pt x="0" y="0"/>
                </a:moveTo>
                <a:lnTo>
                  <a:pt x="4263752" y="0"/>
                </a:lnTo>
                <a:lnTo>
                  <a:pt x="4263752" y="3189426"/>
                </a:lnTo>
                <a:lnTo>
                  <a:pt x="0" y="3189426"/>
                </a:lnTo>
                <a:lnTo>
                  <a:pt x="0" y="0"/>
                </a:lnTo>
                <a:close/>
              </a:path>
            </a:pathLst>
          </a:custGeom>
          <a:blipFill>
            <a:blip r:embed="rId3"/>
            <a:stretch>
              <a:fillRect t="-3538" b="-3538"/>
            </a:stretch>
          </a:blipFill>
          <a:ln w="12700">
            <a:solidFill>
              <a:schemeClr val="tx1"/>
            </a:solidFill>
          </a:ln>
        </p:spPr>
      </p:sp>
      <p:sp>
        <p:nvSpPr>
          <p:cNvPr id="27" name="Freeform 6">
            <a:extLst>
              <a:ext uri="{FF2B5EF4-FFF2-40B4-BE49-F238E27FC236}">
                <a16:creationId xmlns:a16="http://schemas.microsoft.com/office/drawing/2014/main" id="{92AF6A3C-5191-B4AD-C6C4-16C5ACB02113}"/>
              </a:ext>
            </a:extLst>
          </p:cNvPr>
          <p:cNvSpPr/>
          <p:nvPr/>
        </p:nvSpPr>
        <p:spPr>
          <a:xfrm>
            <a:off x="8366765" y="1772920"/>
            <a:ext cx="3073399" cy="2326640"/>
          </a:xfrm>
          <a:custGeom>
            <a:avLst/>
            <a:gdLst/>
            <a:ahLst/>
            <a:cxnLst/>
            <a:rect l="l" t="t" r="r" b="b"/>
            <a:pathLst>
              <a:path w="4477238" h="3189426">
                <a:moveTo>
                  <a:pt x="0" y="0"/>
                </a:moveTo>
                <a:lnTo>
                  <a:pt x="4477238" y="0"/>
                </a:lnTo>
                <a:lnTo>
                  <a:pt x="4477238" y="3189426"/>
                </a:lnTo>
                <a:lnTo>
                  <a:pt x="0" y="3189426"/>
                </a:lnTo>
                <a:lnTo>
                  <a:pt x="0" y="0"/>
                </a:lnTo>
                <a:close/>
              </a:path>
            </a:pathLst>
          </a:custGeom>
          <a:blipFill>
            <a:blip r:embed="rId4"/>
            <a:stretch>
              <a:fillRect t="-1097" b="-1097"/>
            </a:stretch>
          </a:blipFill>
          <a:ln w="12700">
            <a:solidFill>
              <a:schemeClr val="tx1"/>
            </a:solidFill>
          </a:ln>
        </p:spPr>
      </p:sp>
    </p:spTree>
    <p:extLst>
      <p:ext uri="{BB962C8B-B14F-4D97-AF65-F5344CB8AC3E}">
        <p14:creationId xmlns:p14="http://schemas.microsoft.com/office/powerpoint/2010/main" val="37288587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255"/>
            <a:ext cx="10515600" cy="1325563"/>
          </a:xfrm>
        </p:spPr>
        <p:txBody>
          <a:bodyPr/>
          <a:lstStyle/>
          <a:p>
            <a:r>
              <a:rPr lang="en-US" b="1" dirty="0">
                <a:latin typeface=" Times New Roman Medium"/>
                <a:cs typeface="Times New Roman" panose="02020603050405020304" pitchFamily="18" charset="0"/>
              </a:rPr>
              <a:t>Methodology</a:t>
            </a:r>
            <a:endParaRPr lang="en-US" dirty="0"/>
          </a:p>
        </p:txBody>
      </p:sp>
      <p:sp>
        <p:nvSpPr>
          <p:cNvPr id="3" name="Content Placeholder 2"/>
          <p:cNvSpPr>
            <a:spLocks noGrp="1"/>
          </p:cNvSpPr>
          <p:nvPr>
            <p:ph idx="1"/>
          </p:nvPr>
        </p:nvSpPr>
        <p:spPr>
          <a:xfrm>
            <a:off x="222795" y="1673847"/>
            <a:ext cx="10515600" cy="4351338"/>
          </a:xfrm>
        </p:spPr>
        <p:txBody>
          <a:bodyPr>
            <a:normAutofit fontScale="77500" lnSpcReduction="20000"/>
          </a:bodyPr>
          <a:lstStyle/>
          <a:p>
            <a:pPr>
              <a:lnSpc>
                <a:spcPct val="150000"/>
              </a:lnSpc>
            </a:pPr>
            <a:r>
              <a:rPr lang="en-IN" sz="2400" b="1" dirty="0"/>
              <a:t>Target Profiling:</a:t>
            </a:r>
            <a:r>
              <a:rPr lang="en-IN" sz="2400" dirty="0"/>
              <a:t> Finalize intelligence gathering – OSINT scraping, organizational hierarchy mapping, and vendor supply chain analysis. </a:t>
            </a:r>
          </a:p>
          <a:p>
            <a:pPr>
              <a:lnSpc>
                <a:spcPct val="150000"/>
              </a:lnSpc>
            </a:pPr>
            <a:r>
              <a:rPr lang="en-IN" sz="2400" b="1" dirty="0"/>
              <a:t>Infrastructure Staging:</a:t>
            </a:r>
            <a:r>
              <a:rPr lang="en-IN" sz="2400" dirty="0"/>
              <a:t> Configure C2 servers, register look-alike domains, and deploy deepfake voice generation environments. </a:t>
            </a:r>
          </a:p>
          <a:p>
            <a:pPr>
              <a:lnSpc>
                <a:spcPct val="150000"/>
              </a:lnSpc>
            </a:pPr>
            <a:r>
              <a:rPr lang="en-IN" sz="2400" b="1" dirty="0"/>
              <a:t>Vector Weaponization:</a:t>
            </a:r>
            <a:r>
              <a:rPr lang="en-IN" sz="2400" dirty="0"/>
              <a:t> Develop tailored pretexts and obfuscated payloads for specific high-value targets. </a:t>
            </a:r>
          </a:p>
          <a:p>
            <a:pPr>
              <a:lnSpc>
                <a:spcPct val="150000"/>
              </a:lnSpc>
            </a:pPr>
            <a:r>
              <a:rPr lang="en-IN" sz="2400" b="1" dirty="0"/>
              <a:t>Evasion Testing:</a:t>
            </a:r>
            <a:r>
              <a:rPr lang="en-IN" sz="2400" dirty="0"/>
              <a:t> Test bypass techniques against SEGs and EDR sandboxes; optimize social engineering scripts. </a:t>
            </a:r>
          </a:p>
          <a:p>
            <a:pPr>
              <a:lnSpc>
                <a:spcPct val="150000"/>
              </a:lnSpc>
            </a:pPr>
            <a:r>
              <a:rPr lang="en-IN" sz="2400" b="1" dirty="0"/>
              <a:t>Execution Chain:</a:t>
            </a:r>
            <a:r>
              <a:rPr lang="en-IN" sz="2400" dirty="0"/>
              <a:t> Launch simultaneous vishing and phishing, establish persistence, and pivot laterally.</a:t>
            </a:r>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7</a:t>
            </a:fld>
            <a:endParaRPr lang="en-US"/>
          </a:p>
        </p:txBody>
      </p:sp>
      <p:sp>
        <p:nvSpPr>
          <p:cNvPr id="9" name="Freeform 11">
            <a:extLst>
              <a:ext uri="{FF2B5EF4-FFF2-40B4-BE49-F238E27FC236}">
                <a16:creationId xmlns:a16="http://schemas.microsoft.com/office/drawing/2014/main" id="{3DD84FB8-B67E-1C63-2222-235C522A9F93}"/>
              </a:ext>
            </a:extLst>
          </p:cNvPr>
          <p:cNvSpPr/>
          <p:nvPr/>
        </p:nvSpPr>
        <p:spPr>
          <a:xfrm>
            <a:off x="10488386" y="0"/>
            <a:ext cx="1703614" cy="1788367"/>
          </a:xfrm>
          <a:custGeom>
            <a:avLst/>
            <a:gdLst/>
            <a:ahLst/>
            <a:cxnLst/>
            <a:rect l="l" t="t" r="r" b="b"/>
            <a:pathLst>
              <a:path w="4294771" h="4210606">
                <a:moveTo>
                  <a:pt x="0" y="0"/>
                </a:moveTo>
                <a:lnTo>
                  <a:pt x="4294771" y="0"/>
                </a:lnTo>
                <a:lnTo>
                  <a:pt x="4294771" y="4210606"/>
                </a:lnTo>
                <a:lnTo>
                  <a:pt x="0" y="4210606"/>
                </a:lnTo>
                <a:lnTo>
                  <a:pt x="0" y="0"/>
                </a:lnTo>
                <a:close/>
              </a:path>
            </a:pathLst>
          </a:custGeom>
          <a:blipFill>
            <a:blip r:embed="rId2"/>
            <a:stretch>
              <a:fillRect l="-14232" r="-38386"/>
            </a:stretch>
          </a:blipFill>
          <a:ln>
            <a:solidFill>
              <a:schemeClr val="tx1"/>
            </a:solidFill>
          </a:ln>
        </p:spPr>
        <p:txBody>
          <a:bodyPr/>
          <a:lstStyle/>
          <a:p>
            <a:endParaRPr lang="en-IN" dirty="0"/>
          </a:p>
        </p:txBody>
      </p:sp>
    </p:spTree>
    <p:extLst>
      <p:ext uri="{BB962C8B-B14F-4D97-AF65-F5344CB8AC3E}">
        <p14:creationId xmlns:p14="http://schemas.microsoft.com/office/powerpoint/2010/main" val="22852401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3600" y="136525"/>
            <a:ext cx="10490200" cy="970915"/>
          </a:xfrm>
        </p:spPr>
        <p:txBody>
          <a:bodyPr/>
          <a:lstStyle/>
          <a:p>
            <a:r>
              <a:rPr lang="en-US" b="1" dirty="0">
                <a:latin typeface=" Times New Roman Medium"/>
                <a:cs typeface="Times New Roman" panose="02020603050405020304" pitchFamily="18" charset="0"/>
              </a:rPr>
              <a:t>Methodology – Design Flow</a:t>
            </a:r>
          </a:p>
        </p:txBody>
      </p:sp>
      <p:sp>
        <p:nvSpPr>
          <p:cNvPr id="4" name="Slide Number Placeholder 3"/>
          <p:cNvSpPr>
            <a:spLocks noGrp="1"/>
          </p:cNvSpPr>
          <p:nvPr>
            <p:ph type="sldNum" sz="quarter" idx="12"/>
          </p:nvPr>
        </p:nvSpPr>
        <p:spPr/>
        <p:txBody>
          <a:bodyPr/>
          <a:lstStyle/>
          <a:p>
            <a:fld id="{BDCDBBEF-AA6C-4BA6-85B2-A17D7F280E38}" type="slidenum">
              <a:rPr lang="en-US" smtClean="0"/>
              <a:pPr/>
              <a:t>8</a:t>
            </a:fld>
            <a:endParaRPr lang="en-US"/>
          </a:p>
        </p:txBody>
      </p:sp>
      <p:sp>
        <p:nvSpPr>
          <p:cNvPr id="32" name="Slide Number Placeholder 2">
            <a:extLst>
              <a:ext uri="{FF2B5EF4-FFF2-40B4-BE49-F238E27FC236}">
                <a16:creationId xmlns:a16="http://schemas.microsoft.com/office/drawing/2014/main" id="{D3ED7076-6A21-4FFD-1A21-E37EE7976E3C}"/>
              </a:ext>
            </a:extLst>
          </p:cNvPr>
          <p:cNvSpPr>
            <a:spLocks noGrp="1"/>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DCDBBEF-AA6C-4BA6-85B2-A17D7F280E38}" type="slidenum">
              <a:rPr lang="en-US" smtClean="0"/>
              <a:pPr/>
              <a:t>8</a:t>
            </a:fld>
            <a:endParaRPr lang="en-US"/>
          </a:p>
        </p:txBody>
      </p:sp>
      <p:grpSp>
        <p:nvGrpSpPr>
          <p:cNvPr id="33" name="Group 32">
            <a:extLst>
              <a:ext uri="{FF2B5EF4-FFF2-40B4-BE49-F238E27FC236}">
                <a16:creationId xmlns:a16="http://schemas.microsoft.com/office/drawing/2014/main" id="{4F401F4A-BE2F-89F8-E7DA-29D2773D95A9}"/>
              </a:ext>
            </a:extLst>
          </p:cNvPr>
          <p:cNvGrpSpPr/>
          <p:nvPr/>
        </p:nvGrpSpPr>
        <p:grpSpPr>
          <a:xfrm>
            <a:off x="768819" y="1189823"/>
            <a:ext cx="1959907" cy="1673070"/>
            <a:chOff x="0" y="-38100"/>
            <a:chExt cx="952037" cy="817753"/>
          </a:xfrm>
        </p:grpSpPr>
        <p:sp>
          <p:nvSpPr>
            <p:cNvPr id="55" name="Freeform 12">
              <a:extLst>
                <a:ext uri="{FF2B5EF4-FFF2-40B4-BE49-F238E27FC236}">
                  <a16:creationId xmlns:a16="http://schemas.microsoft.com/office/drawing/2014/main" id="{B649DA7B-8B2F-7EE0-EE77-2CFB381B8625}"/>
                </a:ext>
              </a:extLst>
            </p:cNvPr>
            <p:cNvSpPr/>
            <p:nvPr/>
          </p:nvSpPr>
          <p:spPr>
            <a:xfrm>
              <a:off x="0" y="0"/>
              <a:ext cx="952037" cy="779653"/>
            </a:xfrm>
            <a:prstGeom prst="flowChartConnector">
              <a:avLst/>
            </a:prstGeom>
            <a:solidFill>
              <a:srgbClr val="AD8DC4"/>
            </a:solidFill>
            <a:ln w="9525" cap="sq">
              <a:solidFill>
                <a:srgbClr val="FFFFFF"/>
              </a:solidFill>
              <a:prstDash val="solid"/>
              <a:miter/>
            </a:ln>
          </p:spPr>
          <p:txBody>
            <a:bodyPr/>
            <a:lstStyle/>
            <a:p>
              <a:endParaRPr lang="en-US"/>
            </a:p>
          </p:txBody>
        </p:sp>
        <p:sp>
          <p:nvSpPr>
            <p:cNvPr id="56" name="TextBox 13">
              <a:extLst>
                <a:ext uri="{FF2B5EF4-FFF2-40B4-BE49-F238E27FC236}">
                  <a16:creationId xmlns:a16="http://schemas.microsoft.com/office/drawing/2014/main" id="{4AC2E31A-EC6F-6754-423A-CF790160E672}"/>
                </a:ext>
              </a:extLst>
            </p:cNvPr>
            <p:cNvSpPr txBox="1"/>
            <p:nvPr/>
          </p:nvSpPr>
          <p:spPr>
            <a:xfrm>
              <a:off x="0" y="-38100"/>
              <a:ext cx="952037" cy="817753"/>
            </a:xfrm>
            <a:prstGeom prst="flowChartConnector">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483"/>
                </a:lnSpc>
              </a:pPr>
              <a:endParaRPr/>
            </a:p>
          </p:txBody>
        </p:sp>
      </p:grpSp>
      <p:sp>
        <p:nvSpPr>
          <p:cNvPr id="34" name="Arrow: Right 33">
            <a:extLst>
              <a:ext uri="{FF2B5EF4-FFF2-40B4-BE49-F238E27FC236}">
                <a16:creationId xmlns:a16="http://schemas.microsoft.com/office/drawing/2014/main" id="{E9ABC042-C3F0-C57D-3866-5A54FAFEFA06}"/>
              </a:ext>
            </a:extLst>
          </p:cNvPr>
          <p:cNvSpPr/>
          <p:nvPr/>
        </p:nvSpPr>
        <p:spPr>
          <a:xfrm>
            <a:off x="3051107" y="1756215"/>
            <a:ext cx="1263041" cy="668054"/>
          </a:xfrm>
          <a:prstGeom prst="rightArrow">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nvGrpSpPr>
          <p:cNvPr id="35" name="Group 34">
            <a:extLst>
              <a:ext uri="{FF2B5EF4-FFF2-40B4-BE49-F238E27FC236}">
                <a16:creationId xmlns:a16="http://schemas.microsoft.com/office/drawing/2014/main" id="{9E55F235-8719-3466-E13B-7C889AF521CD}"/>
              </a:ext>
            </a:extLst>
          </p:cNvPr>
          <p:cNvGrpSpPr/>
          <p:nvPr/>
        </p:nvGrpSpPr>
        <p:grpSpPr>
          <a:xfrm>
            <a:off x="4489483" y="4764621"/>
            <a:ext cx="2126921" cy="1673070"/>
            <a:chOff x="0" y="-38100"/>
            <a:chExt cx="952037" cy="817753"/>
          </a:xfrm>
        </p:grpSpPr>
        <p:sp>
          <p:nvSpPr>
            <p:cNvPr id="53" name="Freeform 12">
              <a:extLst>
                <a:ext uri="{FF2B5EF4-FFF2-40B4-BE49-F238E27FC236}">
                  <a16:creationId xmlns:a16="http://schemas.microsoft.com/office/drawing/2014/main" id="{DF3D5863-B247-1A1D-35B1-441C8EB40BE2}"/>
                </a:ext>
              </a:extLst>
            </p:cNvPr>
            <p:cNvSpPr/>
            <p:nvPr/>
          </p:nvSpPr>
          <p:spPr>
            <a:xfrm>
              <a:off x="0" y="0"/>
              <a:ext cx="952037" cy="779653"/>
            </a:xfrm>
            <a:prstGeom prst="flowChartConnector">
              <a:avLst/>
            </a:prstGeom>
            <a:solidFill>
              <a:srgbClr val="AD8DC4"/>
            </a:solidFill>
            <a:ln w="9525" cap="sq">
              <a:solidFill>
                <a:srgbClr val="FFFFFF"/>
              </a:solidFill>
              <a:prstDash val="solid"/>
              <a:miter/>
            </a:ln>
          </p:spPr>
          <p:txBody>
            <a:bodyPr/>
            <a:lstStyle/>
            <a:p>
              <a:endParaRPr lang="en-US"/>
            </a:p>
          </p:txBody>
        </p:sp>
        <p:sp>
          <p:nvSpPr>
            <p:cNvPr id="54" name="TextBox 13">
              <a:extLst>
                <a:ext uri="{FF2B5EF4-FFF2-40B4-BE49-F238E27FC236}">
                  <a16:creationId xmlns:a16="http://schemas.microsoft.com/office/drawing/2014/main" id="{2D17ACC7-B50E-EEC7-84CC-A5B4D484F655}"/>
                </a:ext>
              </a:extLst>
            </p:cNvPr>
            <p:cNvSpPr txBox="1"/>
            <p:nvPr/>
          </p:nvSpPr>
          <p:spPr>
            <a:xfrm>
              <a:off x="0" y="-38100"/>
              <a:ext cx="952037" cy="817753"/>
            </a:xfrm>
            <a:prstGeom prst="flowChartConnector">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483"/>
                </a:lnSpc>
              </a:pPr>
              <a:endParaRPr/>
            </a:p>
          </p:txBody>
        </p:sp>
      </p:grpSp>
      <p:sp>
        <p:nvSpPr>
          <p:cNvPr id="36" name="Arrow: Right 35">
            <a:extLst>
              <a:ext uri="{FF2B5EF4-FFF2-40B4-BE49-F238E27FC236}">
                <a16:creationId xmlns:a16="http://schemas.microsoft.com/office/drawing/2014/main" id="{AC84C4BA-28B5-4836-A31D-64F69279F765}"/>
              </a:ext>
            </a:extLst>
          </p:cNvPr>
          <p:cNvSpPr/>
          <p:nvPr/>
        </p:nvSpPr>
        <p:spPr>
          <a:xfrm>
            <a:off x="6934175" y="1756215"/>
            <a:ext cx="1263041" cy="720245"/>
          </a:xfrm>
          <a:prstGeom prst="rightArrow">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nvGrpSpPr>
          <p:cNvPr id="37" name="Group 36">
            <a:extLst>
              <a:ext uri="{FF2B5EF4-FFF2-40B4-BE49-F238E27FC236}">
                <a16:creationId xmlns:a16="http://schemas.microsoft.com/office/drawing/2014/main" id="{844C9543-824C-1B69-15ED-A2AE18552EF4}"/>
              </a:ext>
            </a:extLst>
          </p:cNvPr>
          <p:cNvGrpSpPr/>
          <p:nvPr/>
        </p:nvGrpSpPr>
        <p:grpSpPr>
          <a:xfrm>
            <a:off x="8566271" y="1325520"/>
            <a:ext cx="2220865" cy="1662632"/>
            <a:chOff x="0" y="-38100"/>
            <a:chExt cx="952037" cy="817753"/>
          </a:xfrm>
        </p:grpSpPr>
        <p:sp>
          <p:nvSpPr>
            <p:cNvPr id="51" name="Freeform 12">
              <a:extLst>
                <a:ext uri="{FF2B5EF4-FFF2-40B4-BE49-F238E27FC236}">
                  <a16:creationId xmlns:a16="http://schemas.microsoft.com/office/drawing/2014/main" id="{39A9EB18-2368-B2D5-1144-34885E678DAD}"/>
                </a:ext>
              </a:extLst>
            </p:cNvPr>
            <p:cNvSpPr/>
            <p:nvPr/>
          </p:nvSpPr>
          <p:spPr>
            <a:xfrm>
              <a:off x="0" y="0"/>
              <a:ext cx="952037" cy="779653"/>
            </a:xfrm>
            <a:prstGeom prst="flowChartConnector">
              <a:avLst/>
            </a:prstGeom>
            <a:solidFill>
              <a:srgbClr val="AD8DC4"/>
            </a:solidFill>
            <a:ln w="9525" cap="sq">
              <a:solidFill>
                <a:srgbClr val="FFFFFF"/>
              </a:solidFill>
              <a:prstDash val="solid"/>
              <a:miter/>
            </a:ln>
          </p:spPr>
          <p:txBody>
            <a:bodyPr/>
            <a:lstStyle/>
            <a:p>
              <a:endParaRPr lang="en-US" dirty="0"/>
            </a:p>
          </p:txBody>
        </p:sp>
        <p:sp>
          <p:nvSpPr>
            <p:cNvPr id="52" name="TextBox 13">
              <a:extLst>
                <a:ext uri="{FF2B5EF4-FFF2-40B4-BE49-F238E27FC236}">
                  <a16:creationId xmlns:a16="http://schemas.microsoft.com/office/drawing/2014/main" id="{D41722AA-67A6-2BBE-B63A-A96955D2D589}"/>
                </a:ext>
              </a:extLst>
            </p:cNvPr>
            <p:cNvSpPr txBox="1"/>
            <p:nvPr/>
          </p:nvSpPr>
          <p:spPr>
            <a:xfrm>
              <a:off x="0" y="-38100"/>
              <a:ext cx="952037" cy="817753"/>
            </a:xfrm>
            <a:prstGeom prst="flowChartConnector">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483"/>
                </a:lnSpc>
              </a:pPr>
              <a:endParaRPr/>
            </a:p>
          </p:txBody>
        </p:sp>
      </p:grpSp>
      <p:sp>
        <p:nvSpPr>
          <p:cNvPr id="38" name="Arrow: Down 37">
            <a:extLst>
              <a:ext uri="{FF2B5EF4-FFF2-40B4-BE49-F238E27FC236}">
                <a16:creationId xmlns:a16="http://schemas.microsoft.com/office/drawing/2014/main" id="{B0963F0D-0515-C759-8113-7C699E915ADA}"/>
              </a:ext>
            </a:extLst>
          </p:cNvPr>
          <p:cNvSpPr/>
          <p:nvPr/>
        </p:nvSpPr>
        <p:spPr>
          <a:xfrm>
            <a:off x="9439039" y="3313088"/>
            <a:ext cx="720246" cy="1242163"/>
          </a:xfrm>
          <a:prstGeom prst="downArrow">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nvGrpSpPr>
          <p:cNvPr id="39" name="Group 38">
            <a:extLst>
              <a:ext uri="{FF2B5EF4-FFF2-40B4-BE49-F238E27FC236}">
                <a16:creationId xmlns:a16="http://schemas.microsoft.com/office/drawing/2014/main" id="{7FBB1067-40C0-89F0-9C59-D67C0FF86E60}"/>
              </a:ext>
            </a:extLst>
          </p:cNvPr>
          <p:cNvGrpSpPr/>
          <p:nvPr/>
        </p:nvGrpSpPr>
        <p:grpSpPr>
          <a:xfrm>
            <a:off x="8608024" y="4686671"/>
            <a:ext cx="2179112" cy="1673070"/>
            <a:chOff x="0" y="-38100"/>
            <a:chExt cx="952037" cy="817753"/>
          </a:xfrm>
        </p:grpSpPr>
        <p:sp>
          <p:nvSpPr>
            <p:cNvPr id="49" name="Freeform 12">
              <a:extLst>
                <a:ext uri="{FF2B5EF4-FFF2-40B4-BE49-F238E27FC236}">
                  <a16:creationId xmlns:a16="http://schemas.microsoft.com/office/drawing/2014/main" id="{9C66D2A0-895D-97EE-4882-F9E1644E8631}"/>
                </a:ext>
              </a:extLst>
            </p:cNvPr>
            <p:cNvSpPr/>
            <p:nvPr/>
          </p:nvSpPr>
          <p:spPr>
            <a:xfrm>
              <a:off x="0" y="0"/>
              <a:ext cx="952037" cy="779653"/>
            </a:xfrm>
            <a:prstGeom prst="flowChartConnector">
              <a:avLst/>
            </a:prstGeom>
            <a:solidFill>
              <a:srgbClr val="AD8DC4"/>
            </a:solidFill>
            <a:ln w="9525" cap="sq">
              <a:solidFill>
                <a:srgbClr val="FFFFFF"/>
              </a:solidFill>
              <a:prstDash val="solid"/>
              <a:miter/>
            </a:ln>
          </p:spPr>
          <p:txBody>
            <a:bodyPr/>
            <a:lstStyle/>
            <a:p>
              <a:endParaRPr lang="en-US"/>
            </a:p>
          </p:txBody>
        </p:sp>
        <p:sp>
          <p:nvSpPr>
            <p:cNvPr id="50" name="TextBox 13">
              <a:extLst>
                <a:ext uri="{FF2B5EF4-FFF2-40B4-BE49-F238E27FC236}">
                  <a16:creationId xmlns:a16="http://schemas.microsoft.com/office/drawing/2014/main" id="{2B7A3ED2-BC5A-0F48-BEA0-F1E1E374D3C9}"/>
                </a:ext>
              </a:extLst>
            </p:cNvPr>
            <p:cNvSpPr txBox="1"/>
            <p:nvPr/>
          </p:nvSpPr>
          <p:spPr>
            <a:xfrm>
              <a:off x="0" y="-38100"/>
              <a:ext cx="952037" cy="817753"/>
            </a:xfrm>
            <a:prstGeom prst="flowChartConnector">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483"/>
                </a:lnSpc>
              </a:pPr>
              <a:endParaRPr/>
            </a:p>
          </p:txBody>
        </p:sp>
      </p:grpSp>
      <p:grpSp>
        <p:nvGrpSpPr>
          <p:cNvPr id="40" name="Group 39">
            <a:extLst>
              <a:ext uri="{FF2B5EF4-FFF2-40B4-BE49-F238E27FC236}">
                <a16:creationId xmlns:a16="http://schemas.microsoft.com/office/drawing/2014/main" id="{5976E453-0211-6220-8770-22FF15697822}"/>
              </a:ext>
            </a:extLst>
          </p:cNvPr>
          <p:cNvGrpSpPr/>
          <p:nvPr/>
        </p:nvGrpSpPr>
        <p:grpSpPr>
          <a:xfrm>
            <a:off x="4453559" y="1252451"/>
            <a:ext cx="2179111" cy="1673070"/>
            <a:chOff x="0" y="-38100"/>
            <a:chExt cx="952037" cy="817753"/>
          </a:xfrm>
        </p:grpSpPr>
        <p:sp>
          <p:nvSpPr>
            <p:cNvPr id="47" name="Freeform 12">
              <a:extLst>
                <a:ext uri="{FF2B5EF4-FFF2-40B4-BE49-F238E27FC236}">
                  <a16:creationId xmlns:a16="http://schemas.microsoft.com/office/drawing/2014/main" id="{E7D4039D-F708-F803-B5A9-F03B267B6684}"/>
                </a:ext>
              </a:extLst>
            </p:cNvPr>
            <p:cNvSpPr/>
            <p:nvPr/>
          </p:nvSpPr>
          <p:spPr>
            <a:xfrm>
              <a:off x="0" y="0"/>
              <a:ext cx="952037" cy="779653"/>
            </a:xfrm>
            <a:prstGeom prst="flowChartConnector">
              <a:avLst/>
            </a:prstGeom>
            <a:solidFill>
              <a:srgbClr val="AD8DC4"/>
            </a:solidFill>
            <a:ln w="9525" cap="sq">
              <a:solidFill>
                <a:srgbClr val="FFFFFF"/>
              </a:solidFill>
              <a:prstDash val="solid"/>
              <a:miter/>
            </a:ln>
          </p:spPr>
          <p:txBody>
            <a:bodyPr/>
            <a:lstStyle/>
            <a:p>
              <a:endParaRPr lang="en-US"/>
            </a:p>
          </p:txBody>
        </p:sp>
        <p:sp>
          <p:nvSpPr>
            <p:cNvPr id="48" name="TextBox 13">
              <a:extLst>
                <a:ext uri="{FF2B5EF4-FFF2-40B4-BE49-F238E27FC236}">
                  <a16:creationId xmlns:a16="http://schemas.microsoft.com/office/drawing/2014/main" id="{CD031178-F69C-B72B-96BF-7E857D2A61DF}"/>
                </a:ext>
              </a:extLst>
            </p:cNvPr>
            <p:cNvSpPr txBox="1"/>
            <p:nvPr/>
          </p:nvSpPr>
          <p:spPr>
            <a:xfrm>
              <a:off x="0" y="-38100"/>
              <a:ext cx="952037" cy="817753"/>
            </a:xfrm>
            <a:prstGeom prst="flowChartConnector">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483"/>
                </a:lnSpc>
              </a:pPr>
              <a:endParaRPr/>
            </a:p>
          </p:txBody>
        </p:sp>
      </p:grpSp>
      <p:sp>
        <p:nvSpPr>
          <p:cNvPr id="41" name="Arrow: Left 40">
            <a:extLst>
              <a:ext uri="{FF2B5EF4-FFF2-40B4-BE49-F238E27FC236}">
                <a16:creationId xmlns:a16="http://schemas.microsoft.com/office/drawing/2014/main" id="{8196F5FA-D0A3-38A2-B220-689D92440A38}"/>
              </a:ext>
            </a:extLst>
          </p:cNvPr>
          <p:cNvSpPr/>
          <p:nvPr/>
        </p:nvSpPr>
        <p:spPr>
          <a:xfrm>
            <a:off x="6932042" y="5186423"/>
            <a:ext cx="1263041" cy="678490"/>
          </a:xfrm>
          <a:prstGeom prst="leftArrow">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3" name="TextBox 44">
            <a:extLst>
              <a:ext uri="{FF2B5EF4-FFF2-40B4-BE49-F238E27FC236}">
                <a16:creationId xmlns:a16="http://schemas.microsoft.com/office/drawing/2014/main" id="{B0556ED3-9A7A-2FD6-70C0-20C2F53B6678}"/>
              </a:ext>
            </a:extLst>
          </p:cNvPr>
          <p:cNvSpPr txBox="1"/>
          <p:nvPr/>
        </p:nvSpPr>
        <p:spPr>
          <a:xfrm>
            <a:off x="8716647" y="5271943"/>
            <a:ext cx="1961865" cy="46166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400" b="1" dirty="0">
                <a:latin typeface="Times New Roman Bold"/>
                <a:ea typeface="Calibri"/>
                <a:cs typeface="Calibri"/>
              </a:rPr>
              <a:t>Testing</a:t>
            </a:r>
          </a:p>
        </p:txBody>
      </p:sp>
      <p:sp>
        <p:nvSpPr>
          <p:cNvPr id="44" name="TextBox 46">
            <a:extLst>
              <a:ext uri="{FF2B5EF4-FFF2-40B4-BE49-F238E27FC236}">
                <a16:creationId xmlns:a16="http://schemas.microsoft.com/office/drawing/2014/main" id="{CF9E9069-12B8-A4C3-ED82-03467F43A7FD}"/>
              </a:ext>
            </a:extLst>
          </p:cNvPr>
          <p:cNvSpPr txBox="1"/>
          <p:nvPr/>
        </p:nvSpPr>
        <p:spPr>
          <a:xfrm>
            <a:off x="765672" y="1673486"/>
            <a:ext cx="1947843" cy="830997"/>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400" b="1" dirty="0">
                <a:latin typeface="Times New Roman Bold"/>
                <a:ea typeface="Calibri"/>
                <a:cs typeface="Calibri"/>
              </a:rPr>
              <a:t>Feature Collection</a:t>
            </a:r>
            <a:endParaRPr lang="en-US" sz="2400" b="1" dirty="0">
              <a:latin typeface="Times New Roman Bold"/>
              <a:cs typeface="Times New Roman Bold"/>
            </a:endParaRPr>
          </a:p>
        </p:txBody>
      </p:sp>
      <p:sp>
        <p:nvSpPr>
          <p:cNvPr id="45" name="TextBox 47">
            <a:extLst>
              <a:ext uri="{FF2B5EF4-FFF2-40B4-BE49-F238E27FC236}">
                <a16:creationId xmlns:a16="http://schemas.microsoft.com/office/drawing/2014/main" id="{07894FED-2E4B-A04F-15CD-875E5B3CF95D}"/>
              </a:ext>
            </a:extLst>
          </p:cNvPr>
          <p:cNvSpPr txBox="1"/>
          <p:nvPr/>
        </p:nvSpPr>
        <p:spPr>
          <a:xfrm>
            <a:off x="4685741" y="1805017"/>
            <a:ext cx="1734403" cy="46166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400" b="1" dirty="0">
                <a:latin typeface="Times New Roman Bold"/>
                <a:ea typeface="Calibri"/>
                <a:cs typeface="Calibri"/>
              </a:rPr>
              <a:t>Tech Setup</a:t>
            </a:r>
            <a:endParaRPr lang="en-US" sz="2400" b="1" dirty="0">
              <a:latin typeface="Times New Roman Bold"/>
              <a:cs typeface="Times New Roman Bold"/>
            </a:endParaRPr>
          </a:p>
        </p:txBody>
      </p:sp>
      <p:sp>
        <p:nvSpPr>
          <p:cNvPr id="46" name="TextBox 48">
            <a:extLst>
              <a:ext uri="{FF2B5EF4-FFF2-40B4-BE49-F238E27FC236}">
                <a16:creationId xmlns:a16="http://schemas.microsoft.com/office/drawing/2014/main" id="{E59E5B14-3528-045D-3D58-A349E4DA72D7}"/>
              </a:ext>
            </a:extLst>
          </p:cNvPr>
          <p:cNvSpPr txBox="1"/>
          <p:nvPr/>
        </p:nvSpPr>
        <p:spPr>
          <a:xfrm>
            <a:off x="4685741" y="5331348"/>
            <a:ext cx="1743049" cy="46166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400" b="1" dirty="0">
                <a:latin typeface="Times New Roman Bold"/>
                <a:ea typeface="Calibri"/>
                <a:cs typeface="Calibri"/>
              </a:rPr>
              <a:t>Expansion</a:t>
            </a:r>
            <a:endParaRPr lang="en-US" dirty="0">
              <a:ea typeface="Calibri"/>
              <a:cs typeface="Calibri"/>
            </a:endParaRPr>
          </a:p>
        </p:txBody>
      </p:sp>
      <p:sp>
        <p:nvSpPr>
          <p:cNvPr id="60" name="TextBox 59">
            <a:extLst>
              <a:ext uri="{FF2B5EF4-FFF2-40B4-BE49-F238E27FC236}">
                <a16:creationId xmlns:a16="http://schemas.microsoft.com/office/drawing/2014/main" id="{BC5A0B15-A0D7-69DF-7E91-E94F249C70A2}"/>
              </a:ext>
            </a:extLst>
          </p:cNvPr>
          <p:cNvSpPr txBox="1"/>
          <p:nvPr/>
        </p:nvSpPr>
        <p:spPr>
          <a:xfrm>
            <a:off x="6652326" y="1858151"/>
            <a:ext cx="6096000" cy="461665"/>
          </a:xfrm>
          <a:prstGeom prst="rect">
            <a:avLst/>
          </a:prstGeom>
          <a:noFill/>
        </p:spPr>
        <p:txBody>
          <a:bodyPr wrap="square">
            <a:spAutoFit/>
          </a:bodyPr>
          <a:lstStyle/>
          <a:p>
            <a:pPr algn="ctr"/>
            <a:r>
              <a:rPr lang="en-US" sz="2400" b="1" dirty="0">
                <a:latin typeface="Times New Roman Bold"/>
                <a:ea typeface="Calibri"/>
                <a:cs typeface="Calibri"/>
              </a:rPr>
              <a:t>Prototype</a:t>
            </a:r>
            <a:endParaRPr lang="en-US" sz="2400" b="1" dirty="0">
              <a:latin typeface="Times New Roman Bold"/>
              <a:cs typeface="Times New Roman Bold"/>
            </a:endParaRPr>
          </a:p>
        </p:txBody>
      </p:sp>
    </p:spTree>
    <p:extLst>
      <p:ext uri="{BB962C8B-B14F-4D97-AF65-F5344CB8AC3E}">
        <p14:creationId xmlns:p14="http://schemas.microsoft.com/office/powerpoint/2010/main" val="40930345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57"/>
          <p:cNvSpPr txBox="1">
            <a:spLocks noGrp="1"/>
          </p:cNvSpPr>
          <p:nvPr>
            <p:ph type="title"/>
          </p:nvPr>
        </p:nvSpPr>
        <p:spPr>
          <a:xfrm>
            <a:off x="770021" y="124908"/>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Results and Outputs</a:t>
            </a:r>
            <a:endParaRPr dirty="0"/>
          </a:p>
        </p:txBody>
      </p:sp>
      <p:sp>
        <p:nvSpPr>
          <p:cNvPr id="173" name="Google Shape;173;p57"/>
          <p:cNvSpPr txBox="1">
            <a:spLocks noGrp="1"/>
          </p:cNvSpPr>
          <p:nvPr>
            <p:ph type="body" idx="1"/>
          </p:nvPr>
        </p:nvSpPr>
        <p:spPr>
          <a:xfrm>
            <a:off x="59991" y="1210294"/>
            <a:ext cx="6027820" cy="5425239"/>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IN" dirty="0"/>
              <a:t>Code for Output</a:t>
            </a:r>
            <a:endParaRPr dirty="0"/>
          </a:p>
        </p:txBody>
      </p:sp>
      <p:sp>
        <p:nvSpPr>
          <p:cNvPr id="174" name="Google Shape;174;p5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smtClean="0"/>
              <a:t>9</a:t>
            </a:fld>
            <a:endParaRPr dirty="0"/>
          </a:p>
        </p:txBody>
      </p:sp>
      <p:pic>
        <p:nvPicPr>
          <p:cNvPr id="6" name="Picture 5">
            <a:extLst>
              <a:ext uri="{FF2B5EF4-FFF2-40B4-BE49-F238E27FC236}">
                <a16:creationId xmlns:a16="http://schemas.microsoft.com/office/drawing/2014/main" id="{5A202816-D85F-607C-C5A9-90D4BA4848C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81452" y="1881952"/>
            <a:ext cx="9312729" cy="4753581"/>
          </a:xfrm>
          <a:prstGeom prst="rect">
            <a:avLst/>
          </a:prstGeom>
          <a:ln>
            <a:solidFill>
              <a:schemeClr val="tx1"/>
            </a:solid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5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Results and Outputs</a:t>
            </a:r>
            <a:endParaRPr/>
          </a:p>
        </p:txBody>
      </p:sp>
      <p:sp>
        <p:nvSpPr>
          <p:cNvPr id="186" name="Google Shape;186;p5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10</a:t>
            </a:fld>
            <a:endParaRPr/>
          </a:p>
        </p:txBody>
      </p:sp>
      <p:sp>
        <p:nvSpPr>
          <p:cNvPr id="5" name="Google Shape;185;p58">
            <a:extLst>
              <a:ext uri="{FF2B5EF4-FFF2-40B4-BE49-F238E27FC236}">
                <a16:creationId xmlns:a16="http://schemas.microsoft.com/office/drawing/2014/main" id="{86B34ECB-0494-26F3-2C62-277BF3844C9D}"/>
              </a:ext>
            </a:extLst>
          </p:cNvPr>
          <p:cNvSpPr txBox="1">
            <a:spLocks/>
          </p:cNvSpPr>
          <p:nvPr/>
        </p:nvSpPr>
        <p:spPr>
          <a:xfrm>
            <a:off x="224717" y="2921680"/>
            <a:ext cx="5327984" cy="5032375"/>
          </a:xfrm>
          <a:prstGeom prst="rect">
            <a:avLst/>
          </a:prstGeom>
          <a:noFill/>
          <a:ln>
            <a:noFill/>
          </a:ln>
        </p:spPr>
        <p:txBody>
          <a:bodyPr spcFirstLastPara="1" vert="horz" wrap="square" lIns="91425" tIns="45700" rIns="91425" bIns="45700" rtlCol="0"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buClr>
                <a:schemeClr val="dk1"/>
              </a:buClr>
              <a:buSzPts val="2800"/>
            </a:pPr>
            <a:endParaRPr lang="en-IN" dirty="0"/>
          </a:p>
        </p:txBody>
      </p:sp>
      <p:pic>
        <p:nvPicPr>
          <p:cNvPr id="9" name="Picture 8">
            <a:extLst>
              <a:ext uri="{FF2B5EF4-FFF2-40B4-BE49-F238E27FC236}">
                <a16:creationId xmlns:a16="http://schemas.microsoft.com/office/drawing/2014/main" id="{D418D760-30BC-4BF2-915C-2222E25CCDC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819368" y="1534885"/>
            <a:ext cx="6351846" cy="4718910"/>
          </a:xfrm>
          <a:prstGeom prst="rect">
            <a:avLst/>
          </a:prstGeom>
          <a:ln>
            <a:solidFill>
              <a:schemeClr val="tx1"/>
            </a:solid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5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Results and Outputs</a:t>
            </a:r>
            <a:endParaRPr/>
          </a:p>
        </p:txBody>
      </p:sp>
      <p:sp>
        <p:nvSpPr>
          <p:cNvPr id="186" name="Google Shape;186;p5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11</a:t>
            </a:fld>
            <a:endParaRPr/>
          </a:p>
        </p:txBody>
      </p:sp>
      <p:pic>
        <p:nvPicPr>
          <p:cNvPr id="6" name="Picture 5">
            <a:extLst>
              <a:ext uri="{FF2B5EF4-FFF2-40B4-BE49-F238E27FC236}">
                <a16:creationId xmlns:a16="http://schemas.microsoft.com/office/drawing/2014/main" id="{347B18CF-E4A9-A33F-E95B-518C037E18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2169466"/>
            <a:ext cx="10749643" cy="2864911"/>
          </a:xfrm>
          <a:prstGeom prst="rect">
            <a:avLst/>
          </a:prstGeom>
          <a:ln>
            <a:solidFill>
              <a:schemeClr val="tx1"/>
            </a:solidFill>
          </a:ln>
        </p:spPr>
      </p:pic>
    </p:spTree>
    <p:extLst>
      <p:ext uri="{BB962C8B-B14F-4D97-AF65-F5344CB8AC3E}">
        <p14:creationId xmlns:p14="http://schemas.microsoft.com/office/powerpoint/2010/main" val="14756255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1">
          <a:extLst>
            <a:ext uri="{FF2B5EF4-FFF2-40B4-BE49-F238E27FC236}">
              <a16:creationId xmlns:a16="http://schemas.microsoft.com/office/drawing/2014/main" id="{F47015C2-3BC2-53BE-71FB-2119FEF69C0D}"/>
            </a:ext>
          </a:extLst>
        </p:cNvPr>
        <p:cNvGrpSpPr/>
        <p:nvPr/>
      </p:nvGrpSpPr>
      <p:grpSpPr>
        <a:xfrm>
          <a:off x="0" y="0"/>
          <a:ext cx="0" cy="0"/>
          <a:chOff x="0" y="0"/>
          <a:chExt cx="0" cy="0"/>
        </a:xfrm>
      </p:grpSpPr>
      <p:sp>
        <p:nvSpPr>
          <p:cNvPr id="172" name="Google Shape;172;p57">
            <a:extLst>
              <a:ext uri="{FF2B5EF4-FFF2-40B4-BE49-F238E27FC236}">
                <a16:creationId xmlns:a16="http://schemas.microsoft.com/office/drawing/2014/main" id="{0C90DD07-1E2F-E58C-4601-56700709E745}"/>
              </a:ext>
            </a:extLst>
          </p:cNvPr>
          <p:cNvSpPr txBox="1">
            <a:spLocks noGrp="1"/>
          </p:cNvSpPr>
          <p:nvPr>
            <p:ph type="title"/>
          </p:nvPr>
        </p:nvSpPr>
        <p:spPr>
          <a:xfrm>
            <a:off x="770021" y="124908"/>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Results and Outputs</a:t>
            </a:r>
            <a:endParaRPr dirty="0"/>
          </a:p>
        </p:txBody>
      </p:sp>
      <p:sp>
        <p:nvSpPr>
          <p:cNvPr id="173" name="Google Shape;173;p57">
            <a:extLst>
              <a:ext uri="{FF2B5EF4-FFF2-40B4-BE49-F238E27FC236}">
                <a16:creationId xmlns:a16="http://schemas.microsoft.com/office/drawing/2014/main" id="{34ED2DC2-6E90-89DC-4CA6-FA88065D6047}"/>
              </a:ext>
            </a:extLst>
          </p:cNvPr>
          <p:cNvSpPr txBox="1">
            <a:spLocks noGrp="1"/>
          </p:cNvSpPr>
          <p:nvPr>
            <p:ph type="body" idx="1"/>
          </p:nvPr>
        </p:nvSpPr>
        <p:spPr>
          <a:xfrm>
            <a:off x="59991" y="1210294"/>
            <a:ext cx="6027820" cy="5425239"/>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IN" dirty="0"/>
              <a:t>Logger in Action on both client and server side</a:t>
            </a:r>
            <a:endParaRPr dirty="0"/>
          </a:p>
        </p:txBody>
      </p:sp>
      <p:sp>
        <p:nvSpPr>
          <p:cNvPr id="174" name="Google Shape;174;p57">
            <a:extLst>
              <a:ext uri="{FF2B5EF4-FFF2-40B4-BE49-F238E27FC236}">
                <a16:creationId xmlns:a16="http://schemas.microsoft.com/office/drawing/2014/main" id="{0B3B15C2-5243-F313-04AC-46AF6535A10A}"/>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smtClean="0"/>
              <a:t>12</a:t>
            </a:fld>
            <a:endParaRPr dirty="0"/>
          </a:p>
        </p:txBody>
      </p:sp>
      <p:pic>
        <p:nvPicPr>
          <p:cNvPr id="3" name="Picture 2">
            <a:extLst>
              <a:ext uri="{FF2B5EF4-FFF2-40B4-BE49-F238E27FC236}">
                <a16:creationId xmlns:a16="http://schemas.microsoft.com/office/drawing/2014/main" id="{352EA254-66AA-EA77-9DCE-614C731006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12428" y="318654"/>
            <a:ext cx="4593771" cy="1983674"/>
          </a:xfrm>
          <a:prstGeom prst="rect">
            <a:avLst/>
          </a:prstGeom>
          <a:ln>
            <a:solidFill>
              <a:schemeClr val="tx1"/>
            </a:solidFill>
          </a:ln>
        </p:spPr>
      </p:pic>
      <p:pic>
        <p:nvPicPr>
          <p:cNvPr id="5" name="Picture 4">
            <a:extLst>
              <a:ext uri="{FF2B5EF4-FFF2-40B4-BE49-F238E27FC236}">
                <a16:creationId xmlns:a16="http://schemas.microsoft.com/office/drawing/2014/main" id="{4AEC2BB8-3F32-ACEF-7DBA-4227459436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49484" y="2696187"/>
            <a:ext cx="7724775" cy="3266303"/>
          </a:xfrm>
          <a:prstGeom prst="rect">
            <a:avLst/>
          </a:prstGeom>
          <a:ln>
            <a:solidFill>
              <a:schemeClr val="tx1"/>
            </a:solidFill>
          </a:ln>
        </p:spPr>
      </p:pic>
    </p:spTree>
    <p:extLst>
      <p:ext uri="{BB962C8B-B14F-4D97-AF65-F5344CB8AC3E}">
        <p14:creationId xmlns:p14="http://schemas.microsoft.com/office/powerpoint/2010/main" val="12720919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4CD87-B180-287B-EC18-6558F5CBBA61}"/>
              </a:ext>
            </a:extLst>
          </p:cNvPr>
          <p:cNvSpPr>
            <a:spLocks noGrp="1"/>
          </p:cNvSpPr>
          <p:nvPr>
            <p:ph type="title"/>
          </p:nvPr>
        </p:nvSpPr>
        <p:spPr/>
        <p:txBody>
          <a:bodyPr/>
          <a:lstStyle/>
          <a:p>
            <a:r>
              <a:rPr lang="en-US" sz="4400" b="1" i="0" u="none" strike="noStrike" dirty="0">
                <a:solidFill>
                  <a:srgbClr val="000000"/>
                </a:solidFill>
                <a:effectLst/>
                <a:latin typeface="Times New Roman Medium"/>
              </a:rPr>
              <a:t>References</a:t>
            </a:r>
            <a:endParaRPr lang="en-IN" dirty="0"/>
          </a:p>
        </p:txBody>
      </p:sp>
      <p:sp>
        <p:nvSpPr>
          <p:cNvPr id="3" name="Content Placeholder 2">
            <a:extLst>
              <a:ext uri="{FF2B5EF4-FFF2-40B4-BE49-F238E27FC236}">
                <a16:creationId xmlns:a16="http://schemas.microsoft.com/office/drawing/2014/main" id="{A4717733-AD9C-6C0B-3FBD-C8BC41738314}"/>
              </a:ext>
            </a:extLst>
          </p:cNvPr>
          <p:cNvSpPr>
            <a:spLocks noGrp="1"/>
          </p:cNvSpPr>
          <p:nvPr>
            <p:ph idx="1"/>
          </p:nvPr>
        </p:nvSpPr>
        <p:spPr/>
        <p:txBody>
          <a:bodyPr>
            <a:normAutofit fontScale="92500" lnSpcReduction="10000"/>
          </a:bodyPr>
          <a:lstStyle/>
          <a:p>
            <a:pPr marL="0" lvl="0" indent="0" algn="just">
              <a:buNone/>
              <a:tabLst>
                <a:tab pos="228600" algn="l"/>
              </a:tabLst>
            </a:pPr>
            <a:r>
              <a:rPr lang="en-IN" sz="1800" dirty="0"/>
              <a:t>1] F. Mouton, M. M. Malan, L. </a:t>
            </a:r>
            <a:r>
              <a:rPr lang="en-IN" sz="1800" dirty="0" err="1"/>
              <a:t>Leenen</a:t>
            </a:r>
            <a:r>
              <a:rPr lang="en-IN" sz="1800" dirty="0"/>
              <a:t>, and H. S. Venter, "Social Engineering: The Human Side of Hacking," Computers &amp; Security, vol. 59, pp. 186–209, 2016. </a:t>
            </a:r>
          </a:p>
          <a:p>
            <a:pPr marL="0" lvl="0" indent="0" algn="just">
              <a:buNone/>
              <a:tabLst>
                <a:tab pos="228600" algn="l"/>
              </a:tabLst>
            </a:pPr>
            <a:endParaRPr lang="en-IN" sz="1800" dirty="0"/>
          </a:p>
          <a:p>
            <a:pPr marL="0" lvl="0" indent="0" algn="just">
              <a:buNone/>
              <a:tabLst>
                <a:tab pos="228600" algn="l"/>
              </a:tabLst>
            </a:pPr>
            <a:r>
              <a:rPr lang="en-IN" sz="1800" dirty="0"/>
              <a:t>[2] S. Pfleeger and D. Caputo, "Leveraging </a:t>
            </a:r>
            <a:r>
              <a:rPr lang="en-IN" sz="1800" dirty="0" err="1"/>
              <a:t>Behavioral</a:t>
            </a:r>
            <a:r>
              <a:rPr lang="en-IN" sz="1800" dirty="0"/>
              <a:t> Science to Mitigate Cyber Security Risk," Computers &amp; Security, vol. 31, no. 4, pp. 597–611, 2012. </a:t>
            </a:r>
          </a:p>
          <a:p>
            <a:pPr marL="0" lvl="0" indent="0" algn="just">
              <a:buNone/>
              <a:tabLst>
                <a:tab pos="228600" algn="l"/>
              </a:tabLst>
            </a:pPr>
            <a:endParaRPr lang="en-IN" sz="1800" dirty="0"/>
          </a:p>
          <a:p>
            <a:pPr marL="0" lvl="0" indent="0" algn="just">
              <a:buNone/>
              <a:tabLst>
                <a:tab pos="228600" algn="l"/>
              </a:tabLst>
            </a:pPr>
            <a:r>
              <a:rPr lang="en-IN" sz="1800" dirty="0"/>
              <a:t>[3] K. Krol, E. Philippou, E. De Cristofaro, and M. A. Sasse, "‘They brought in the horrible key ring thing!’ Analysing the Usability of Two-Factor Authentication in UK Online Banking," in Proc. Workshop on Usable Security (USEC), 2015. </a:t>
            </a:r>
          </a:p>
          <a:p>
            <a:pPr marL="0" lvl="0" indent="0" algn="just">
              <a:buNone/>
              <a:tabLst>
                <a:tab pos="228600" algn="l"/>
              </a:tabLst>
            </a:pPr>
            <a:endParaRPr lang="en-IN" sz="1800" dirty="0"/>
          </a:p>
          <a:p>
            <a:pPr marL="0" lvl="0" indent="0" algn="just">
              <a:buNone/>
              <a:tabLst>
                <a:tab pos="228600" algn="l"/>
              </a:tabLst>
            </a:pPr>
            <a:r>
              <a:rPr lang="en-IN" sz="1800" dirty="0"/>
              <a:t>[4] M. Junger, L. Montoya, and F. </a:t>
            </a:r>
            <a:r>
              <a:rPr lang="en-IN" sz="1800" dirty="0" err="1"/>
              <a:t>Overink</a:t>
            </a:r>
            <a:r>
              <a:rPr lang="en-IN" sz="1800" dirty="0"/>
              <a:t>, "Priming and Warnings: The Influence of Security Education on Phishing Susceptibility," Computers in Human </a:t>
            </a:r>
            <a:r>
              <a:rPr lang="en-IN" sz="1800" dirty="0" err="1"/>
              <a:t>Behavior</a:t>
            </a:r>
            <a:r>
              <a:rPr lang="en-IN" sz="1800" dirty="0"/>
              <a:t>, vol. 73, pp. 102–110, 2017. </a:t>
            </a:r>
          </a:p>
          <a:p>
            <a:pPr marL="0" lvl="0" indent="0" algn="just">
              <a:buNone/>
              <a:tabLst>
                <a:tab pos="228600" algn="l"/>
              </a:tabLst>
            </a:pPr>
            <a:endParaRPr lang="en-IN" sz="1800" dirty="0"/>
          </a:p>
          <a:p>
            <a:pPr marL="0" lvl="0" indent="0" algn="just">
              <a:buNone/>
              <a:tabLst>
                <a:tab pos="228600" algn="l"/>
              </a:tabLst>
            </a:pPr>
            <a:r>
              <a:rPr lang="en-IN" sz="1800" dirty="0"/>
              <a:t>[5] D. </a:t>
            </a:r>
            <a:r>
              <a:rPr lang="en-IN" sz="1800" dirty="0" err="1"/>
              <a:t>Aniagolu</a:t>
            </a:r>
            <a:r>
              <a:rPr lang="en-IN" sz="1800" dirty="0"/>
              <a:t>, "Multimodal AI: A Whole New Social Engineering Playground for Hackers," Security Boulevard, Oct. 2025. [Online].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E7B81352-53C2-45F8-AC27-03CD7CF2BC38}"/>
              </a:ext>
            </a:extLst>
          </p:cNvPr>
          <p:cNvSpPr>
            <a:spLocks noGrp="1"/>
          </p:cNvSpPr>
          <p:nvPr>
            <p:ph type="sldNum" sz="quarter" idx="12"/>
          </p:nvPr>
        </p:nvSpPr>
        <p:spPr/>
        <p:txBody>
          <a:bodyPr/>
          <a:lstStyle/>
          <a:p>
            <a:fld id="{BDCDBBEF-AA6C-4BA6-85B2-A17D7F280E38}" type="slidenum">
              <a:rPr lang="en-US" smtClean="0"/>
              <a:pPr/>
              <a:t>13</a:t>
            </a:fld>
            <a:endParaRPr lang="en-US"/>
          </a:p>
        </p:txBody>
      </p:sp>
    </p:spTree>
    <p:extLst>
      <p:ext uri="{BB962C8B-B14F-4D97-AF65-F5344CB8AC3E}">
        <p14:creationId xmlns:p14="http://schemas.microsoft.com/office/powerpoint/2010/main" val="548497805"/>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6996</TotalTime>
  <Words>732</Words>
  <Application>Microsoft Office PowerPoint</Application>
  <PresentationFormat>Widescreen</PresentationFormat>
  <Paragraphs>84</Paragraphs>
  <Slides>13</Slides>
  <Notes>4</Notes>
  <HiddenSlides>0</HiddenSlides>
  <MMClips>0</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13</vt:i4>
      </vt:variant>
    </vt:vector>
  </HeadingPairs>
  <TitlesOfParts>
    <vt:vector size="27" baseType="lpstr">
      <vt:lpstr> Times New Roman Medium</vt:lpstr>
      <vt:lpstr>Arial</vt:lpstr>
      <vt:lpstr>Arial Black</vt:lpstr>
      <vt:lpstr>Calibri</vt:lpstr>
      <vt:lpstr>Calibri Light</vt:lpstr>
      <vt:lpstr>Casper</vt:lpstr>
      <vt:lpstr>Raleway ExtraBold</vt:lpstr>
      <vt:lpstr>Times New Roman</vt:lpstr>
      <vt:lpstr>Times New Roman Bold</vt:lpstr>
      <vt:lpstr>Times New Roman Medium</vt:lpstr>
      <vt:lpstr>Wingdings</vt:lpstr>
      <vt:lpstr>1_Office Theme</vt:lpstr>
      <vt:lpstr>2_Office Theme</vt:lpstr>
      <vt:lpstr>Contents Slide Master</vt:lpstr>
      <vt:lpstr>PowerPoint Presentation</vt:lpstr>
      <vt:lpstr>Outline</vt:lpstr>
      <vt:lpstr>Introduction To Project</vt:lpstr>
      <vt:lpstr>Introduction To Project</vt:lpstr>
      <vt:lpstr>Problem Formulation</vt:lpstr>
      <vt:lpstr>PowerPoint Presentation</vt:lpstr>
      <vt:lpstr>Methodology</vt:lpstr>
      <vt:lpstr>Methodology – Design Flow</vt:lpstr>
      <vt:lpstr>Results and Outputs</vt:lpstr>
      <vt:lpstr>Results and Outputs</vt:lpstr>
      <vt:lpstr>Results and Outputs</vt:lpstr>
      <vt:lpstr>Results and Outputs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sidnvt ‎</cp:lastModifiedBy>
  <cp:revision>501</cp:revision>
  <dcterms:created xsi:type="dcterms:W3CDTF">2019-01-09T10:33:58Z</dcterms:created>
  <dcterms:modified xsi:type="dcterms:W3CDTF">2025-11-18T06:02:40Z</dcterms:modified>
</cp:coreProperties>
</file>